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1E64FEF-9054-5143-94E7-F1D5493CA493}" type="datetimeFigureOut">
              <a:rPr lang="en-US" smtClean="0"/>
              <a:t>9/8/2026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B3DC561-5CFD-A644-B00E-1F2D622727C0}" type="slidenum">
              <a:rPr lang="en-US" smtClean="0"/>
              <a:t>‹#›</a:t>
            </a:fld>
            <a:endParaRPr lang="en-US"/>
          </a:p>
        </p:txBody>
      </p:sp>
    </p:spTree>
    <p:extLst>
      <p:ext uri="{BB962C8B-B14F-4D97-AF65-F5344CB8AC3E}">
        <p14:creationId xmlns:p14="http://schemas.microsoft.com/office/powerpoint/2010/main" val="2528050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hyperlink" Target="https://docs.ultralytics.com/guides/raspberry-pi" TargetMode="External" /><Relationship Id="rId5" Type="http://schemas.openxmlformats.org/officeDocument/2006/relationships/hyperlink" Target="https://github.com/ultralytics/yolo11" TargetMode="External" /><Relationship Id="rId4" Type="http://schemas.openxmlformats.org/officeDocument/2006/relationships/hyperlink" Target="https://docs.ultralytics.com/models/yolo11" TargetMode="External" /></Relationships>
</file>

<file path=ppt/slides/_rels/slide6.xml.rels><?xml version="1.0" encoding="UTF-8" standalone="yes"?>
<Relationships xmlns="http://schemas.openxmlformats.org/package/2006/relationships"><Relationship Id="rId8" Type="http://schemas.openxmlformats.org/officeDocument/2006/relationships/hyperlink" Target="https://wiki.seeedstudio.com/benchmark_of_multistream_inference_on_raspberrypi5_with_hailo8/" TargetMode="External" /><Relationship Id="rId13" Type="http://schemas.openxmlformats.org/officeDocument/2006/relationships/image" Target="../media/image15.png" /><Relationship Id="rId3" Type="http://schemas.openxmlformats.org/officeDocument/2006/relationships/image" Target="../media/image11.png" /><Relationship Id="rId7" Type="http://schemas.openxmlformats.org/officeDocument/2006/relationships/image" Target="../media/image13.png" /><Relationship Id="rId12" Type="http://schemas.openxmlformats.org/officeDocument/2006/relationships/hyperlink" Target="https://forums.raspberrypi.com/viewtopic.php?t=373669" TargetMode="External" /><Relationship Id="rId2" Type="http://schemas.openxmlformats.org/officeDocument/2006/relationships/notesSlide" Target="../notesSlides/notesSlide6.xml" /><Relationship Id="rId1" Type="http://schemas.openxmlformats.org/officeDocument/2006/relationships/slideLayout" Target="../slideLayouts/slideLayout1.xml" /><Relationship Id="rId6" Type="http://schemas.openxmlformats.org/officeDocument/2006/relationships/hyperlink" Target="https://docs.ultralytics.com/guides/raspberry-pi" TargetMode="External" /><Relationship Id="rId11" Type="http://schemas.openxmlformats.org/officeDocument/2006/relationships/hyperlink" Target="https://pmc.ncbi.nlm.nih.gov/articles/PMC12526525/table/sensors-25-06006-t006/" TargetMode="External" /><Relationship Id="rId5" Type="http://schemas.openxmlformats.org/officeDocument/2006/relationships/hyperlink" Target="https://arxiv.org/html/2409.16808v1" TargetMode="External" /><Relationship Id="rId10" Type="http://schemas.openxmlformats.org/officeDocument/2006/relationships/image" Target="../media/image14.png" /><Relationship Id="rId4" Type="http://schemas.openxmlformats.org/officeDocument/2006/relationships/image" Target="../media/image12.png" /><Relationship Id="rId9" Type="http://schemas.openxmlformats.org/officeDocument/2006/relationships/hyperlink" Target="https://www.visionanalysis.org/articles/best-object-detection-rpi5-hailo8" TargetMode="External" /><Relationship Id="rId14" Type="http://schemas.openxmlformats.org/officeDocument/2006/relationships/hyperlink" Target="https://ieeexplore.ieee.org/document/10914836/" TargetMode="External" /></Relationships>
</file>

<file path=ppt/slides/_rels/slide7.xml.rels><?xml version="1.0" encoding="UTF-8" standalone="yes"?>
<Relationships xmlns="http://schemas.openxmlformats.org/package/2006/relationships"><Relationship Id="rId8" Type="http://schemas.openxmlformats.org/officeDocument/2006/relationships/image" Target="../media/image18.png" /><Relationship Id="rId3" Type="http://schemas.openxmlformats.org/officeDocument/2006/relationships/image" Target="../media/image7.png" /><Relationship Id="rId7" Type="http://schemas.openxmlformats.org/officeDocument/2006/relationships/image" Target="../media/image17.png" /><Relationship Id="rId2" Type="http://schemas.openxmlformats.org/officeDocument/2006/relationships/notesSlide" Target="../notesSlides/notesSlide7.xml" /><Relationship Id="rId1" Type="http://schemas.openxmlformats.org/officeDocument/2006/relationships/slideLayout" Target="../slideLayouts/slideLayout1.xml" /><Relationship Id="rId6" Type="http://schemas.openxmlformats.org/officeDocument/2006/relationships/hyperlink" Target="https://lex-localis.org/index.php/LexLocalis/article/download/801932/2310/24269" TargetMode="External" /><Relationship Id="rId5" Type="http://schemas.openxmlformats.org/officeDocument/2006/relationships/hyperlink" Target="https://arxiv.org/abs/2307.11904" TargetMode="External" /><Relationship Id="rId4" Type="http://schemas.openxmlformats.org/officeDocument/2006/relationships/image" Target="../media/image16.png" /><Relationship Id="rId9" Type="http://schemas.openxmlformats.org/officeDocument/2006/relationships/hyperlink" Target="https://ictactjournals.in/paper/IJIVP_Vol_16_Iss_2_Paper_1_3713_3718.pdf" TargetMode="External" /></Relationships>
</file>

<file path=ppt/slides/_rels/slide8.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20.png" /><Relationship Id="rId7" Type="http://schemas.openxmlformats.org/officeDocument/2006/relationships/hyperlink" Target="https://docs.ultralytics.com/datasets/detect/visdrone" TargetMode="External" /><Relationship Id="rId2" Type="http://schemas.openxmlformats.org/officeDocument/2006/relationships/notesSlide" Target="../notesSlides/notesSlide9.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hyperlink" Target="https://docs.ultralytics.com/guides/raspberry-pi" TargetMode="External" /><Relationship Id="rId4" Type="http://schemas.openxmlformats.org/officeDocument/2006/relationships/hyperlink" Target="https://docs.ultralytics.com/models/yolo11" TargetMode="External" /></Relationships>
</file>

<file path=ppt/slides/_rels/slide10.xml.rels><?xml version="1.0" encoding="UTF-8" standalone="yes"?>
<Relationships xmlns="http://schemas.openxmlformats.org/package/2006/relationships"><Relationship Id="rId8" Type="http://schemas.openxmlformats.org/officeDocument/2006/relationships/hyperlink" Target="https://ieeexplore.ieee.org/document/10914836/" TargetMode="External" /><Relationship Id="rId3" Type="http://schemas.openxmlformats.org/officeDocument/2006/relationships/image" Target="../media/image21.png" /><Relationship Id="rId7" Type="http://schemas.openxmlformats.org/officeDocument/2006/relationships/image" Target="../media/image24.png" /><Relationship Id="rId2" Type="http://schemas.openxmlformats.org/officeDocument/2006/relationships/notesSlide" Target="../notesSlides/notesSlide10.xml" /><Relationship Id="rId1" Type="http://schemas.openxmlformats.org/officeDocument/2006/relationships/slideLayout" Target="../slideLayouts/slideLayout1.xml" /><Relationship Id="rId6" Type="http://schemas.openxmlformats.org/officeDocument/2006/relationships/image" Target="../media/image23.png" /><Relationship Id="rId5" Type="http://schemas.openxmlformats.org/officeDocument/2006/relationships/image" Target="../media/image22.png" /><Relationship Id="rId4" Type="http://schemas.openxmlformats.org/officeDocument/2006/relationships/hyperlink" Target="https://docs.ultralytics.com/guides/raspberry-pi" TargetMode="External" /></Relationships>
</file>

<file path=ppt/slides/_rels/slide11.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12.xml" /><Relationship Id="rId1" Type="http://schemas.openxmlformats.org/officeDocument/2006/relationships/slideLayout" Target="../slideLayouts/slideLayout1.xml" /><Relationship Id="rId5" Type="http://schemas.openxmlformats.org/officeDocument/2006/relationships/image" Target="../media/image18.png" /><Relationship Id="rId4" Type="http://schemas.openxmlformats.org/officeDocument/2006/relationships/image" Target="../media/image17.png"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4.xml" /><Relationship Id="rId1" Type="http://schemas.openxmlformats.org/officeDocument/2006/relationships/slideLayout" Target="../slideLayouts/slideLayout1.xml" /><Relationship Id="rId5" Type="http://schemas.openxmlformats.org/officeDocument/2006/relationships/image" Target="../media/image27.png" /><Relationship Id="rId4" Type="http://schemas.openxmlformats.org/officeDocument/2006/relationships/image" Target="../media/image12.png" /></Relationships>
</file>

<file path=ppt/slides/_rels/slide1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5.xml" /><Relationship Id="rId1" Type="http://schemas.openxmlformats.org/officeDocument/2006/relationships/slideLayout" Target="../slideLayouts/slideLayout1.xml" /><Relationship Id="rId6" Type="http://schemas.openxmlformats.org/officeDocument/2006/relationships/image" Target="../media/image29.png" /><Relationship Id="rId5" Type="http://schemas.openxmlformats.org/officeDocument/2006/relationships/image" Target="../media/image28.png" /><Relationship Id="rId4" Type="http://schemas.openxmlformats.org/officeDocument/2006/relationships/image" Target="../media/image7.png"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choya-lee/yolo-papers" TargetMode="External" /><Relationship Id="rId13" Type="http://schemas.openxmlformats.org/officeDocument/2006/relationships/hyperlink" Target="https://github.com/VisDrone" TargetMode="External" /><Relationship Id="rId18" Type="http://schemas.openxmlformats.org/officeDocument/2006/relationships/hyperlink" Target="https://ieeexplore.ieee.org/document/10914836/" TargetMode="External" /><Relationship Id="rId3" Type="http://schemas.openxmlformats.org/officeDocument/2006/relationships/hyperlink" Target="https://lex-localis.org/index.php/LexLocalis/article/download/801932/2310/24269" TargetMode="External" /><Relationship Id="rId7" Type="http://schemas.openxmlformats.org/officeDocument/2006/relationships/hyperlink" Target="https://docs.ultralytics.com/guides/raspberry-pi" TargetMode="External" /><Relationship Id="rId12" Type="http://schemas.openxmlformats.org/officeDocument/2006/relationships/hyperlink" Target="https://docs.ultralytics.com/datasets/detect/visdrone" TargetMode="External" /><Relationship Id="rId17" Type="http://schemas.openxmlformats.org/officeDocument/2006/relationships/hyperlink" Target="https://wiki.seeedstudio.com/benchmark_of_multistream_inference_on_raspberrypi5_with_hailo8/" TargetMode="External" /><Relationship Id="rId2" Type="http://schemas.openxmlformats.org/officeDocument/2006/relationships/notesSlide" Target="../notesSlides/notesSlide17.xml" /><Relationship Id="rId16" Type="http://schemas.openxmlformats.org/officeDocument/2006/relationships/hyperlink" Target="https://community.hailo.ai/t/raspberry-pi-5-with-hailo-8l-benchmark/746" TargetMode="External" /><Relationship Id="rId1" Type="http://schemas.openxmlformats.org/officeDocument/2006/relationships/slideLayout" Target="../slideLayouts/slideLayout1.xml" /><Relationship Id="rId6" Type="http://schemas.openxmlformats.org/officeDocument/2006/relationships/hyperlink" Target="https://arxiv.org/abs/2307.11904" TargetMode="External" /><Relationship Id="rId11" Type="http://schemas.openxmlformats.org/officeDocument/2006/relationships/hyperlink" Target="https://www.yolo11.com/" TargetMode="External" /><Relationship Id="rId5" Type="http://schemas.openxmlformats.org/officeDocument/2006/relationships/hyperlink" Target="https://arxiv.org/html/2409.16808v1" TargetMode="External" /><Relationship Id="rId15" Type="http://schemas.openxmlformats.org/officeDocument/2006/relationships/hyperlink" Target="https://pmc.ncbi.nlm.nih.gov/articles/PMC12526525/table/sensors-25-06006-t006/" TargetMode="External" /><Relationship Id="rId10" Type="http://schemas.openxmlformats.org/officeDocument/2006/relationships/hyperlink" Target="https://github.com/ultralytics/ultralytics" TargetMode="External" /><Relationship Id="rId19" Type="http://schemas.openxmlformats.org/officeDocument/2006/relationships/hyperlink" Target="https://forums.raspberrypi.com/viewtopic.php?t=373669" TargetMode="External" /><Relationship Id="rId4" Type="http://schemas.openxmlformats.org/officeDocument/2006/relationships/hyperlink" Target="https://ictactjournals.in/paper/IJIVP_Vol_16_Iss_2_Paper_1_3713_3718.pdf" TargetMode="External" /><Relationship Id="rId9" Type="http://schemas.openxmlformats.org/officeDocument/2006/relationships/hyperlink" Target="https://docs.ultralytics.com/models/yolo11" TargetMode="External" /><Relationship Id="rId14" Type="http://schemas.openxmlformats.org/officeDocument/2006/relationships/hyperlink" Target="https://www.visionanalysis.org/articles/best-object-detection-rpi5-hailo8" TargetMode="External" /></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sonysunny-com/esp32_tinyML" TargetMode="External" /><Relationship Id="rId13" Type="http://schemas.openxmlformats.org/officeDocument/2006/relationships/hyperlink" Target="https://benchmarks.ul.com/jp-pt/hardware/phone/Samsung+Galaxy+M35+review" TargetMode="External" /><Relationship Id="rId18" Type="http://schemas.openxmlformats.org/officeDocument/2006/relationships/hyperlink" Target="https://github.com/Op27/YOLOMobileVision" TargetMode="External" /><Relationship Id="rId3" Type="http://schemas.openxmlformats.org/officeDocument/2006/relationships/hyperlink" Target="https://github.com/ultralytics/yolo11" TargetMode="External" /><Relationship Id="rId7" Type="http://schemas.openxmlformats.org/officeDocument/2006/relationships/hyperlink" Target="https://eloquentarduino.com/posts/esp32-cam-person-detection" TargetMode="External" /><Relationship Id="rId12" Type="http://schemas.openxmlformats.org/officeDocument/2006/relationships/hyperlink" Target="https://nanoreview.net/en/phone/samsung-galaxy-m35" TargetMode="External" /><Relationship Id="rId17" Type="http://schemas.openxmlformats.org/officeDocument/2006/relationships/hyperlink" Target="https://github.com/estebanuri/pub-yolo-android" TargetMode="External" /><Relationship Id="rId2" Type="http://schemas.openxmlformats.org/officeDocument/2006/relationships/notesSlide" Target="../notesSlides/notesSlide18.xml" /><Relationship Id="rId16" Type="http://schemas.openxmlformats.org/officeDocument/2006/relationships/hyperlink" Target="https://github.com/xiaohaoo/yolo-android" TargetMode="External" /><Relationship Id="rId1" Type="http://schemas.openxmlformats.org/officeDocument/2006/relationships/slideLayout" Target="../slideLayouts/slideLayout1.xml" /><Relationship Id="rId6" Type="http://schemas.openxmlformats.org/officeDocument/2006/relationships/hyperlink" Target="https://www.axcelerate.ai/blogs/deploy-yolo-on-nvidia-jetson-tutorial" TargetMode="External" /><Relationship Id="rId11" Type="http://schemas.openxmlformats.org/officeDocument/2006/relationships/hyperlink" Target="https://www.gsmarena.com/samsung_galaxy_m35-13006.php" TargetMode="External" /><Relationship Id="rId5" Type="http://schemas.openxmlformats.org/officeDocument/2006/relationships/hyperlink" Target="https://cohorte.co/blog/optimizing-yolofor-edge-devices" TargetMode="External" /><Relationship Id="rId15" Type="http://schemas.openxmlformats.org/officeDocument/2006/relationships/hyperlink" Target="https://www.fonearena.com/blog/424925/samsung-galaxy-m35-5g-price-specifications.html" TargetMode="External" /><Relationship Id="rId10" Type="http://schemas.openxmlformats.org/officeDocument/2006/relationships/hyperlink" Target="https://www.edgeimpulse.com/blog/add-sight-to-your-esp32/" TargetMode="External" /><Relationship Id="rId19" Type="http://schemas.openxmlformats.org/officeDocument/2006/relationships/hyperlink" Target="https://github.com/xforcevesa/YOLOv8-Mobile" TargetMode="External" /><Relationship Id="rId4" Type="http://schemas.openxmlformats.org/officeDocument/2006/relationships/hyperlink" Target="https://www.linkedin.com/posts/kadirmertabatay_edgeai-computervision-yolo-activity-7424014548770164736-CpFI" TargetMode="External" /><Relationship Id="rId9" Type="http://schemas.openxmlformats.org/officeDocument/2006/relationships/hyperlink" Target="https://github.com/tanakamasayuki/Arduino_TensorFlowLite_ESP32" TargetMode="External" /><Relationship Id="rId14" Type="http://schemas.openxmlformats.org/officeDocument/2006/relationships/hyperlink" Target="https://www.gadgets360.com/mobiles/news/samsung-galaxy-m35-5g-price-specifications-features-launch-brazil-5764451" TargetMode="Externa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26317A"/>
          </a:solidFill>
          <a:ln/>
        </p:spPr>
      </p:sp>
      <p:sp>
        <p:nvSpPr>
          <p:cNvPr id="3" name="Shape 1"/>
          <p:cNvSpPr/>
          <p:nvPr/>
        </p:nvSpPr>
        <p:spPr>
          <a:xfrm>
            <a:off x="-1645920" y="4846320"/>
            <a:ext cx="3291840" cy="3291840"/>
          </a:xfrm>
          <a:prstGeom prst="ellipse">
            <a:avLst/>
          </a:prstGeom>
          <a:solidFill>
            <a:srgbClr val="26317A"/>
          </a:solidFill>
          <a:ln/>
        </p:spPr>
      </p:sp>
      <p:sp>
        <p:nvSpPr>
          <p:cNvPr id="4" name="Shape 2"/>
          <p:cNvSpPr/>
          <p:nvPr/>
        </p:nvSpPr>
        <p:spPr>
          <a:xfrm>
            <a:off x="822960" y="777240"/>
            <a:ext cx="1051560" cy="1051560"/>
          </a:xfrm>
          <a:prstGeom prst="ellipse">
            <a:avLst/>
          </a:prstGeom>
          <a:solidFill>
            <a:srgbClr val="26317A"/>
          </a:solidFill>
          <a:ln/>
        </p:spPr>
      </p:sp>
      <p:pic>
        <p:nvPicPr>
          <p:cNvPr id="5" name="Image 0" descr="/home/claude/deck/icons/drone_F2A93B.png"/>
          <p:cNvPicPr>
            <a:picLocks noChangeAspect="1"/>
          </p:cNvPicPr>
          <p:nvPr/>
        </p:nvPicPr>
        <p:blipFill>
          <a:blip r:embed="rId3"/>
          <a:stretch>
            <a:fillRect/>
          </a:stretch>
        </p:blipFill>
        <p:spPr>
          <a:xfrm>
            <a:off x="1042416" y="996696"/>
            <a:ext cx="612648" cy="612648"/>
          </a:xfrm>
          <a:prstGeom prst="rect">
            <a:avLst/>
          </a:prstGeom>
        </p:spPr>
      </p:pic>
      <p:sp>
        <p:nvSpPr>
          <p:cNvPr id="6" name="Text 3"/>
          <p:cNvSpPr txBox="1"/>
          <p:nvPr/>
        </p:nvSpPr>
        <p:spPr>
          <a:xfrm>
            <a:off x="822960" y="2057400"/>
            <a:ext cx="9144000" cy="365760"/>
          </a:xfrm>
          <a:prstGeom prst="rect">
            <a:avLst/>
          </a:prstGeom>
          <a:noFill/>
          <a:ln/>
        </p:spPr>
        <p:txBody>
          <a:bodyPr wrap="square" lIns="0" tIns="0" rIns="0" bIns="0" rtlCol="0" anchor="ctr"/>
          <a:lstStyle/>
          <a:p>
            <a:pPr marL="0" indent="0">
              <a:buNone/>
            </a:pPr>
            <a:r>
              <a:rPr lang="en-US" sz="1300" b="1" kern="0" spc="250" dirty="0">
                <a:solidFill>
                  <a:srgbClr val="F2A93B"/>
                </a:solidFill>
                <a:latin typeface="Calibri" pitchFamily="34" charset="0"/>
                <a:ea typeface="Calibri" pitchFamily="34" charset="-122"/>
                <a:cs typeface="Calibri" pitchFamily="34" charset="-120"/>
              </a:rPr>
              <a:t>RESEARCH PROPOSAL  ·  IEEE-STYLE OVERVIEW</a:t>
            </a:r>
            <a:endParaRPr lang="en-US" sz="1300" dirty="0"/>
          </a:p>
        </p:txBody>
      </p:sp>
      <p:sp>
        <p:nvSpPr>
          <p:cNvPr id="7" name="Text 4"/>
          <p:cNvSpPr txBox="1"/>
          <p:nvPr/>
        </p:nvSpPr>
        <p:spPr>
          <a:xfrm>
            <a:off x="822960" y="2468880"/>
            <a:ext cx="10515600" cy="182880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Embedded Optimization of YOLO11 and YOLO26 for UAV Object Detection on Heterogeneous Edge Hardware</a:t>
            </a:r>
            <a:endParaRPr lang="en-US" sz="3400" dirty="0"/>
          </a:p>
        </p:txBody>
      </p:sp>
      <p:sp>
        <p:nvSpPr>
          <p:cNvPr id="8" name="Text 5"/>
          <p:cNvSpPr txBox="1"/>
          <p:nvPr/>
        </p:nvSpPr>
        <p:spPr>
          <a:xfrm>
            <a:off x="822960" y="4343400"/>
            <a:ext cx="9418320" cy="64008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Benchmarking and compressing modern YOLO detectors for real-time UAV surveillance across Raspberry Pi 5, Jetson Nano, smartphone, and laptop targets</a:t>
            </a:r>
            <a:endParaRPr lang="en-US" sz="1500" dirty="0"/>
          </a:p>
        </p:txBody>
      </p:sp>
      <p:sp>
        <p:nvSpPr>
          <p:cNvPr id="9" name="Shape 6"/>
          <p:cNvSpPr/>
          <p:nvPr/>
        </p:nvSpPr>
        <p:spPr>
          <a:xfrm>
            <a:off x="822960" y="5257800"/>
            <a:ext cx="2926080" cy="0"/>
          </a:xfrm>
          <a:prstGeom prst="line">
            <a:avLst/>
          </a:prstGeom>
          <a:noFill/>
          <a:ln w="12700">
            <a:solidFill>
              <a:srgbClr val="3F4B8C"/>
            </a:solidFill>
            <a:prstDash val="solid"/>
          </a:ln>
        </p:spPr>
      </p:sp>
      <p:sp>
        <p:nvSpPr>
          <p:cNvPr id="10" name="Text 7"/>
          <p:cNvSpPr txBox="1"/>
          <p:nvPr/>
        </p:nvSpPr>
        <p:spPr>
          <a:xfrm>
            <a:off x="822960" y="5486400"/>
            <a:ext cx="6400800" cy="914400"/>
          </a:xfrm>
          <a:prstGeom prst="rect">
            <a:avLst/>
          </a:prstGeom>
          <a:noFill/>
          <a:ln/>
        </p:spPr>
        <p:txBody>
          <a:bodyPr wrap="square" lIns="0" tIns="0" rIns="0" bIns="0" rtlCol="0" anchor="ctr"/>
          <a:lstStyle/>
          <a:p>
            <a:pPr marL="0" indent="0">
              <a:lnSpc>
                <a:spcPct val="125000"/>
              </a:lnSpc>
              <a:buNone/>
            </a:pPr>
            <a:r>
              <a:rPr lang="en-US" sz="1350" b="1" dirty="0">
                <a:solidFill>
                  <a:srgbClr val="FFFFFF"/>
                </a:solidFill>
                <a:latin typeface="Calibri" pitchFamily="34" charset="0"/>
                <a:ea typeface="Calibri" pitchFamily="34" charset="-122"/>
                <a:cs typeface="Calibri" pitchFamily="34" charset="-120"/>
              </a:rPr>
              <a:t>Krishna</a:t>
            </a:r>
            <a:endParaRPr lang="en-US" sz="1350" dirty="0"/>
          </a:p>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Dept. of Electrical &amp; Computer Engineering (AI/ML)</a:t>
            </a:r>
            <a:endParaRPr lang="en-US" sz="1350" dirty="0"/>
          </a:p>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Amrita Vishwa Vidyapeetham</a:t>
            </a:r>
            <a:endParaRPr lang="en-US" sz="1350" dirty="0"/>
          </a:p>
        </p:txBody>
      </p:sp>
      <p:sp>
        <p:nvSpPr>
          <p:cNvPr id="11" name="Text 8"/>
          <p:cNvSpPr txBox="1"/>
          <p:nvPr/>
        </p:nvSpPr>
        <p:spPr>
          <a:xfrm>
            <a:off x="9509760" y="5760720"/>
            <a:ext cx="1920240" cy="365760"/>
          </a:xfrm>
          <a:prstGeom prst="rect">
            <a:avLst/>
          </a:prstGeom>
          <a:noFill/>
          <a:ln/>
        </p:spPr>
        <p:txBody>
          <a:bodyPr wrap="square" lIns="0" tIns="0" rIns="0" bIns="0" rtlCol="0" anchor="ctr"/>
          <a:lstStyle/>
          <a:p>
            <a:pPr marL="0" indent="0" algn="r">
              <a:buNone/>
            </a:pPr>
            <a:r>
              <a:rPr lang="en-US" sz="1200" dirty="0">
                <a:solidFill>
                  <a:srgbClr val="CADCFC"/>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PRESENTATION OUTLINE</a:t>
            </a:r>
            <a:endParaRPr lang="en-US" sz="1250" dirty="0"/>
          </a:p>
        </p:txBody>
      </p:sp>
      <p:sp>
        <p:nvSpPr>
          <p:cNvPr id="3" name="Text 1"/>
          <p:cNvSpPr txBox="1"/>
          <p:nvPr/>
        </p:nvSpPr>
        <p:spPr>
          <a:xfrm>
            <a:off x="640080" y="777240"/>
            <a:ext cx="8229600" cy="822960"/>
          </a:xfrm>
          <a:prstGeom prst="rect">
            <a:avLst/>
          </a:prstGeom>
          <a:noFill/>
          <a:ln/>
        </p:spPr>
        <p:txBody>
          <a:bodyPr wrap="square" lIns="0" tIns="0" rIns="0" bIns="0" rtlCol="0" anchor="ctr"/>
          <a:lstStyle/>
          <a:p>
            <a:pPr marL="0" indent="0">
              <a:lnSpc>
                <a:spcPct val="102000"/>
              </a:lnSpc>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965960"/>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5" name="Text 3"/>
          <p:cNvSpPr txBox="1"/>
          <p:nvPr/>
        </p:nvSpPr>
        <p:spPr>
          <a:xfrm>
            <a:off x="868680" y="2075688"/>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01</a:t>
            </a:r>
            <a:endParaRPr lang="en-US" sz="2600" dirty="0"/>
          </a:p>
        </p:txBody>
      </p:sp>
      <p:sp>
        <p:nvSpPr>
          <p:cNvPr id="6" name="Shape 4"/>
          <p:cNvSpPr/>
          <p:nvPr/>
        </p:nvSpPr>
        <p:spPr>
          <a:xfrm>
            <a:off x="5257800" y="2199132"/>
            <a:ext cx="502920" cy="502920"/>
          </a:xfrm>
          <a:prstGeom prst="ellipse">
            <a:avLst/>
          </a:prstGeom>
          <a:solidFill>
            <a:srgbClr val="EEF2FC"/>
          </a:solidFill>
          <a:ln/>
        </p:spPr>
      </p:sp>
      <p:pic>
        <p:nvPicPr>
          <p:cNvPr id="7" name="Image 0" descr="/home/claude/deck/icons/flask_1E2761.png"/>
          <p:cNvPicPr>
            <a:picLocks noChangeAspect="1"/>
          </p:cNvPicPr>
          <p:nvPr/>
        </p:nvPicPr>
        <p:blipFill>
          <a:blip r:embed="rId3"/>
          <a:stretch>
            <a:fillRect/>
          </a:stretch>
        </p:blipFill>
        <p:spPr>
          <a:xfrm>
            <a:off x="5367528" y="2308860"/>
            <a:ext cx="283464" cy="283464"/>
          </a:xfrm>
          <a:prstGeom prst="rect">
            <a:avLst/>
          </a:prstGeom>
        </p:spPr>
      </p:pic>
      <p:sp>
        <p:nvSpPr>
          <p:cNvPr id="8" name="Text 5"/>
          <p:cNvSpPr txBox="1"/>
          <p:nvPr/>
        </p:nvSpPr>
        <p:spPr>
          <a:xfrm>
            <a:off x="1600200" y="2093976"/>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Motivation &amp; Abstract</a:t>
            </a:r>
            <a:endParaRPr lang="en-US" sz="1450" dirty="0"/>
          </a:p>
        </p:txBody>
      </p:sp>
      <p:sp>
        <p:nvSpPr>
          <p:cNvPr id="9" name="Shape 6"/>
          <p:cNvSpPr/>
          <p:nvPr/>
        </p:nvSpPr>
        <p:spPr>
          <a:xfrm>
            <a:off x="640080" y="3136392"/>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0" name="Text 7"/>
          <p:cNvSpPr txBox="1"/>
          <p:nvPr/>
        </p:nvSpPr>
        <p:spPr>
          <a:xfrm>
            <a:off x="868680" y="3246120"/>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02</a:t>
            </a:r>
            <a:endParaRPr lang="en-US" sz="2600" dirty="0"/>
          </a:p>
        </p:txBody>
      </p:sp>
      <p:sp>
        <p:nvSpPr>
          <p:cNvPr id="11" name="Shape 8"/>
          <p:cNvSpPr/>
          <p:nvPr/>
        </p:nvSpPr>
        <p:spPr>
          <a:xfrm>
            <a:off x="5257800" y="3369564"/>
            <a:ext cx="502920" cy="502920"/>
          </a:xfrm>
          <a:prstGeom prst="ellipse">
            <a:avLst/>
          </a:prstGeom>
          <a:solidFill>
            <a:srgbClr val="EEF2FC"/>
          </a:solidFill>
          <a:ln/>
        </p:spPr>
      </p:sp>
      <p:pic>
        <p:nvPicPr>
          <p:cNvPr id="12" name="Image 1" descr="/home/claude/deck/icons/search_1E2761.png"/>
          <p:cNvPicPr>
            <a:picLocks noChangeAspect="1"/>
          </p:cNvPicPr>
          <p:nvPr/>
        </p:nvPicPr>
        <p:blipFill>
          <a:blip r:embed="rId4"/>
          <a:stretch>
            <a:fillRect/>
          </a:stretch>
        </p:blipFill>
        <p:spPr>
          <a:xfrm>
            <a:off x="5367528" y="3479292"/>
            <a:ext cx="283464" cy="283464"/>
          </a:xfrm>
          <a:prstGeom prst="rect">
            <a:avLst/>
          </a:prstGeom>
        </p:spPr>
      </p:pic>
      <p:sp>
        <p:nvSpPr>
          <p:cNvPr id="13" name="Text 9"/>
          <p:cNvSpPr txBox="1"/>
          <p:nvPr/>
        </p:nvSpPr>
        <p:spPr>
          <a:xfrm>
            <a:off x="1600200" y="3264408"/>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Problem Statement</a:t>
            </a:r>
            <a:endParaRPr lang="en-US" sz="1450" dirty="0"/>
          </a:p>
        </p:txBody>
      </p:sp>
      <p:sp>
        <p:nvSpPr>
          <p:cNvPr id="14" name="Shape 10"/>
          <p:cNvSpPr/>
          <p:nvPr/>
        </p:nvSpPr>
        <p:spPr>
          <a:xfrm>
            <a:off x="640080" y="4306824"/>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5" name="Text 11"/>
          <p:cNvSpPr txBox="1"/>
          <p:nvPr/>
        </p:nvSpPr>
        <p:spPr>
          <a:xfrm>
            <a:off x="868680" y="4416552"/>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03</a:t>
            </a:r>
            <a:endParaRPr lang="en-US" sz="2600" dirty="0"/>
          </a:p>
        </p:txBody>
      </p:sp>
      <p:sp>
        <p:nvSpPr>
          <p:cNvPr id="16" name="Shape 12"/>
          <p:cNvSpPr/>
          <p:nvPr/>
        </p:nvSpPr>
        <p:spPr>
          <a:xfrm>
            <a:off x="5257800" y="4539996"/>
            <a:ext cx="502920" cy="502920"/>
          </a:xfrm>
          <a:prstGeom prst="ellipse">
            <a:avLst/>
          </a:prstGeom>
          <a:solidFill>
            <a:srgbClr val="EEF2FC"/>
          </a:solidFill>
          <a:ln/>
        </p:spPr>
      </p:sp>
      <p:pic>
        <p:nvPicPr>
          <p:cNvPr id="17" name="Image 2" descr="/home/claude/deck/icons/database_1E2761.png"/>
          <p:cNvPicPr>
            <a:picLocks noChangeAspect="1"/>
          </p:cNvPicPr>
          <p:nvPr/>
        </p:nvPicPr>
        <p:blipFill>
          <a:blip r:embed="rId5"/>
          <a:stretch>
            <a:fillRect/>
          </a:stretch>
        </p:blipFill>
        <p:spPr>
          <a:xfrm>
            <a:off x="5367528" y="4649724"/>
            <a:ext cx="283464" cy="283464"/>
          </a:xfrm>
          <a:prstGeom prst="rect">
            <a:avLst/>
          </a:prstGeom>
        </p:spPr>
      </p:pic>
      <p:sp>
        <p:nvSpPr>
          <p:cNvPr id="18" name="Text 13"/>
          <p:cNvSpPr txBox="1"/>
          <p:nvPr/>
        </p:nvSpPr>
        <p:spPr>
          <a:xfrm>
            <a:off x="1600200" y="4434840"/>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Related Work</a:t>
            </a:r>
            <a:endParaRPr lang="en-US" sz="1450" dirty="0"/>
          </a:p>
        </p:txBody>
      </p:sp>
      <p:sp>
        <p:nvSpPr>
          <p:cNvPr id="19" name="Shape 14"/>
          <p:cNvSpPr/>
          <p:nvPr/>
        </p:nvSpPr>
        <p:spPr>
          <a:xfrm>
            <a:off x="640080" y="5477256"/>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0" name="Text 15"/>
          <p:cNvSpPr txBox="1"/>
          <p:nvPr/>
        </p:nvSpPr>
        <p:spPr>
          <a:xfrm>
            <a:off x="868680" y="5586984"/>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04</a:t>
            </a:r>
            <a:endParaRPr lang="en-US" sz="2600" dirty="0"/>
          </a:p>
        </p:txBody>
      </p:sp>
      <p:sp>
        <p:nvSpPr>
          <p:cNvPr id="21" name="Shape 16"/>
          <p:cNvSpPr/>
          <p:nvPr/>
        </p:nvSpPr>
        <p:spPr>
          <a:xfrm>
            <a:off x="5257800" y="5710428"/>
            <a:ext cx="502920" cy="502920"/>
          </a:xfrm>
          <a:prstGeom prst="ellipse">
            <a:avLst/>
          </a:prstGeom>
          <a:solidFill>
            <a:srgbClr val="EEF2FC"/>
          </a:solidFill>
          <a:ln/>
        </p:spPr>
      </p:sp>
      <p:pic>
        <p:nvPicPr>
          <p:cNvPr id="22" name="Image 3" descr="/home/claude/deck/icons/warning_1E2761.png"/>
          <p:cNvPicPr>
            <a:picLocks noChangeAspect="1"/>
          </p:cNvPicPr>
          <p:nvPr/>
        </p:nvPicPr>
        <p:blipFill>
          <a:blip r:embed="rId6"/>
          <a:stretch>
            <a:fillRect/>
          </a:stretch>
        </p:blipFill>
        <p:spPr>
          <a:xfrm>
            <a:off x="5367528" y="5820156"/>
            <a:ext cx="283464" cy="283464"/>
          </a:xfrm>
          <a:prstGeom prst="rect">
            <a:avLst/>
          </a:prstGeom>
        </p:spPr>
      </p:pic>
      <p:sp>
        <p:nvSpPr>
          <p:cNvPr id="23" name="Text 17"/>
          <p:cNvSpPr txBox="1"/>
          <p:nvPr/>
        </p:nvSpPr>
        <p:spPr>
          <a:xfrm>
            <a:off x="1600200" y="5605272"/>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Research Gaps</a:t>
            </a:r>
            <a:endParaRPr lang="en-US" sz="1450" dirty="0"/>
          </a:p>
        </p:txBody>
      </p:sp>
      <p:sp>
        <p:nvSpPr>
          <p:cNvPr id="24" name="Shape 18"/>
          <p:cNvSpPr/>
          <p:nvPr/>
        </p:nvSpPr>
        <p:spPr>
          <a:xfrm>
            <a:off x="6355080" y="1965960"/>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5" name="Text 19"/>
          <p:cNvSpPr txBox="1"/>
          <p:nvPr/>
        </p:nvSpPr>
        <p:spPr>
          <a:xfrm>
            <a:off x="6583680" y="2075688"/>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05</a:t>
            </a:r>
            <a:endParaRPr lang="en-US" sz="2600" dirty="0"/>
          </a:p>
        </p:txBody>
      </p:sp>
      <p:sp>
        <p:nvSpPr>
          <p:cNvPr id="26" name="Shape 20"/>
          <p:cNvSpPr/>
          <p:nvPr/>
        </p:nvSpPr>
        <p:spPr>
          <a:xfrm>
            <a:off x="10972800" y="2199132"/>
            <a:ext cx="502920" cy="502920"/>
          </a:xfrm>
          <a:prstGeom prst="ellipse">
            <a:avLst/>
          </a:prstGeom>
          <a:solidFill>
            <a:srgbClr val="EEF2FC"/>
          </a:solidFill>
          <a:ln/>
        </p:spPr>
      </p:sp>
      <p:pic>
        <p:nvPicPr>
          <p:cNvPr id="27" name="Image 4" descr="/home/claude/deck/icons/cogs_1E2761.png"/>
          <p:cNvPicPr>
            <a:picLocks noChangeAspect="1"/>
          </p:cNvPicPr>
          <p:nvPr/>
        </p:nvPicPr>
        <p:blipFill>
          <a:blip r:embed="rId7"/>
          <a:stretch>
            <a:fillRect/>
          </a:stretch>
        </p:blipFill>
        <p:spPr>
          <a:xfrm>
            <a:off x="11082528" y="2308860"/>
            <a:ext cx="283464" cy="283464"/>
          </a:xfrm>
          <a:prstGeom prst="rect">
            <a:avLst/>
          </a:prstGeom>
        </p:spPr>
      </p:pic>
      <p:sp>
        <p:nvSpPr>
          <p:cNvPr id="28" name="Text 21"/>
          <p:cNvSpPr txBox="1"/>
          <p:nvPr/>
        </p:nvSpPr>
        <p:spPr>
          <a:xfrm>
            <a:off x="7315200" y="2093976"/>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Proposed System &amp; Hardware</a:t>
            </a:r>
            <a:endParaRPr lang="en-US" sz="1450" dirty="0"/>
          </a:p>
        </p:txBody>
      </p:sp>
      <p:sp>
        <p:nvSpPr>
          <p:cNvPr id="29" name="Shape 22"/>
          <p:cNvSpPr/>
          <p:nvPr/>
        </p:nvSpPr>
        <p:spPr>
          <a:xfrm>
            <a:off x="6355080" y="3136392"/>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30" name="Text 23"/>
          <p:cNvSpPr txBox="1"/>
          <p:nvPr/>
        </p:nvSpPr>
        <p:spPr>
          <a:xfrm>
            <a:off x="6583680" y="3246120"/>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06</a:t>
            </a:r>
            <a:endParaRPr lang="en-US" sz="2600" dirty="0"/>
          </a:p>
        </p:txBody>
      </p:sp>
      <p:sp>
        <p:nvSpPr>
          <p:cNvPr id="31" name="Shape 24"/>
          <p:cNvSpPr/>
          <p:nvPr/>
        </p:nvSpPr>
        <p:spPr>
          <a:xfrm>
            <a:off x="10972800" y="3369564"/>
            <a:ext cx="502920" cy="502920"/>
          </a:xfrm>
          <a:prstGeom prst="ellipse">
            <a:avLst/>
          </a:prstGeom>
          <a:solidFill>
            <a:srgbClr val="EEF2FC"/>
          </a:solidFill>
          <a:ln/>
        </p:spPr>
      </p:sp>
      <p:pic>
        <p:nvPicPr>
          <p:cNvPr id="32" name="Image 5" descr="/home/claude/deck/icons/layergroup_1E2761.png"/>
          <p:cNvPicPr>
            <a:picLocks noChangeAspect="1"/>
          </p:cNvPicPr>
          <p:nvPr/>
        </p:nvPicPr>
        <p:blipFill>
          <a:blip r:embed="rId8"/>
          <a:stretch>
            <a:fillRect/>
          </a:stretch>
        </p:blipFill>
        <p:spPr>
          <a:xfrm>
            <a:off x="11082528" y="3479292"/>
            <a:ext cx="283464" cy="283464"/>
          </a:xfrm>
          <a:prstGeom prst="rect">
            <a:avLst/>
          </a:prstGeom>
        </p:spPr>
      </p:pic>
      <p:sp>
        <p:nvSpPr>
          <p:cNvPr id="33" name="Text 25"/>
          <p:cNvSpPr txBox="1"/>
          <p:nvPr/>
        </p:nvSpPr>
        <p:spPr>
          <a:xfrm>
            <a:off x="7315200" y="3264408"/>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Methodology &amp; Optimization Pipeline</a:t>
            </a:r>
            <a:endParaRPr lang="en-US" sz="1450" dirty="0"/>
          </a:p>
        </p:txBody>
      </p:sp>
      <p:sp>
        <p:nvSpPr>
          <p:cNvPr id="34" name="Shape 26"/>
          <p:cNvSpPr/>
          <p:nvPr/>
        </p:nvSpPr>
        <p:spPr>
          <a:xfrm>
            <a:off x="6355080" y="4306824"/>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35" name="Text 27"/>
          <p:cNvSpPr txBox="1"/>
          <p:nvPr/>
        </p:nvSpPr>
        <p:spPr>
          <a:xfrm>
            <a:off x="6583680" y="4416552"/>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07</a:t>
            </a:r>
            <a:endParaRPr lang="en-US" sz="2600" dirty="0"/>
          </a:p>
        </p:txBody>
      </p:sp>
      <p:sp>
        <p:nvSpPr>
          <p:cNvPr id="36" name="Shape 28"/>
          <p:cNvSpPr/>
          <p:nvPr/>
        </p:nvSpPr>
        <p:spPr>
          <a:xfrm>
            <a:off x="10972800" y="4539996"/>
            <a:ext cx="502920" cy="502920"/>
          </a:xfrm>
          <a:prstGeom prst="ellipse">
            <a:avLst/>
          </a:prstGeom>
          <a:solidFill>
            <a:srgbClr val="EEF2FC"/>
          </a:solidFill>
          <a:ln/>
        </p:spPr>
      </p:sp>
      <p:pic>
        <p:nvPicPr>
          <p:cNvPr id="37" name="Image 6" descr="/home/claude/deck/icons/bullseye_1E2761.png"/>
          <p:cNvPicPr>
            <a:picLocks noChangeAspect="1"/>
          </p:cNvPicPr>
          <p:nvPr/>
        </p:nvPicPr>
        <p:blipFill>
          <a:blip r:embed="rId9"/>
          <a:stretch>
            <a:fillRect/>
          </a:stretch>
        </p:blipFill>
        <p:spPr>
          <a:xfrm>
            <a:off x="11082528" y="4649724"/>
            <a:ext cx="283464" cy="283464"/>
          </a:xfrm>
          <a:prstGeom prst="rect">
            <a:avLst/>
          </a:prstGeom>
        </p:spPr>
      </p:pic>
      <p:sp>
        <p:nvSpPr>
          <p:cNvPr id="38" name="Text 29"/>
          <p:cNvSpPr txBox="1"/>
          <p:nvPr/>
        </p:nvSpPr>
        <p:spPr>
          <a:xfrm>
            <a:off x="7315200" y="4434840"/>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Evaluation Framework</a:t>
            </a:r>
            <a:endParaRPr lang="en-US" sz="1450" dirty="0"/>
          </a:p>
        </p:txBody>
      </p:sp>
      <p:sp>
        <p:nvSpPr>
          <p:cNvPr id="39" name="Shape 30"/>
          <p:cNvSpPr/>
          <p:nvPr/>
        </p:nvSpPr>
        <p:spPr>
          <a:xfrm>
            <a:off x="6355080" y="5477256"/>
            <a:ext cx="5394960" cy="969264"/>
          </a:xfrm>
          <a:prstGeom prst="roundRect">
            <a:avLst>
              <a:gd name="adj" fmla="val 7547"/>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40" name="Text 31"/>
          <p:cNvSpPr txBox="1"/>
          <p:nvPr/>
        </p:nvSpPr>
        <p:spPr>
          <a:xfrm>
            <a:off x="6583680" y="5586984"/>
            <a:ext cx="822960" cy="640080"/>
          </a:xfrm>
          <a:prstGeom prst="rect">
            <a:avLst/>
          </a:prstGeom>
          <a:noFill/>
          <a:ln/>
        </p:spPr>
        <p:txBody>
          <a:bodyPr wrap="square" lIns="0" tIns="0" rIns="0" bIns="0" rtlCol="0" anchor="ctr"/>
          <a:lstStyle/>
          <a:p>
            <a:pPr marL="0" indent="0">
              <a:buNone/>
            </a:pPr>
            <a:r>
              <a:rPr lang="en-US" sz="2600" b="1" dirty="0">
                <a:solidFill>
                  <a:srgbClr val="CADCFC"/>
                </a:solidFill>
                <a:latin typeface="Cambria" pitchFamily="34" charset="0"/>
                <a:ea typeface="Cambria" pitchFamily="34" charset="-122"/>
                <a:cs typeface="Cambria" pitchFamily="34" charset="-120"/>
              </a:rPr>
              <a:t>08</a:t>
            </a:r>
            <a:endParaRPr lang="en-US" sz="2600" dirty="0"/>
          </a:p>
        </p:txBody>
      </p:sp>
      <p:sp>
        <p:nvSpPr>
          <p:cNvPr id="41" name="Shape 32"/>
          <p:cNvSpPr/>
          <p:nvPr/>
        </p:nvSpPr>
        <p:spPr>
          <a:xfrm>
            <a:off x="10972800" y="5710428"/>
            <a:ext cx="502920" cy="502920"/>
          </a:xfrm>
          <a:prstGeom prst="ellipse">
            <a:avLst/>
          </a:prstGeom>
          <a:solidFill>
            <a:srgbClr val="EEF2FC"/>
          </a:solidFill>
          <a:ln/>
        </p:spPr>
      </p:sp>
      <p:pic>
        <p:nvPicPr>
          <p:cNvPr id="42" name="Image 7" descr="/home/claude/deck/icons/lightbulb_1E2761.png"/>
          <p:cNvPicPr>
            <a:picLocks noChangeAspect="1"/>
          </p:cNvPicPr>
          <p:nvPr/>
        </p:nvPicPr>
        <p:blipFill>
          <a:blip r:embed="rId10"/>
          <a:stretch>
            <a:fillRect/>
          </a:stretch>
        </p:blipFill>
        <p:spPr>
          <a:xfrm>
            <a:off x="11082528" y="5820156"/>
            <a:ext cx="283464" cy="283464"/>
          </a:xfrm>
          <a:prstGeom prst="rect">
            <a:avLst/>
          </a:prstGeom>
        </p:spPr>
      </p:pic>
      <p:sp>
        <p:nvSpPr>
          <p:cNvPr id="43" name="Text 33"/>
          <p:cNvSpPr txBox="1"/>
          <p:nvPr/>
        </p:nvSpPr>
        <p:spPr>
          <a:xfrm>
            <a:off x="7315200" y="5605272"/>
            <a:ext cx="3474720" cy="804672"/>
          </a:xfrm>
          <a:prstGeom prst="rect">
            <a:avLst/>
          </a:prstGeom>
          <a:noFill/>
          <a:ln/>
        </p:spPr>
        <p:txBody>
          <a:bodyPr wrap="square" lIns="0" tIns="0" rIns="0" bIns="0" rtlCol="0" anchor="ctr"/>
          <a:lstStyle/>
          <a:p>
            <a:pPr marL="0" indent="0">
              <a:buNone/>
            </a:pPr>
            <a:r>
              <a:rPr lang="en-US" sz="1450" b="1" dirty="0">
                <a:solidFill>
                  <a:srgbClr val="1A1F3C"/>
                </a:solidFill>
                <a:latin typeface="Calibri" pitchFamily="34" charset="0"/>
                <a:ea typeface="Calibri" pitchFamily="34" charset="-122"/>
                <a:cs typeface="Calibri" pitchFamily="34" charset="-120"/>
              </a:rPr>
              <a:t>Expected Contributions &amp; Conclusion</a:t>
            </a:r>
            <a:endParaRPr lang="en-US" sz="1450" dirty="0"/>
          </a:p>
        </p:txBody>
      </p:sp>
      <p:sp>
        <p:nvSpPr>
          <p:cNvPr id="44" name="Text 34"/>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01 · MOTIVATION</a:t>
            </a:r>
            <a:endParaRPr lang="en-US" sz="1250" dirty="0"/>
          </a:p>
        </p:txBody>
      </p:sp>
      <p:sp>
        <p:nvSpPr>
          <p:cNvPr id="3" name="Text 1"/>
          <p:cNvSpPr txBox="1"/>
          <p:nvPr/>
        </p:nvSpPr>
        <p:spPr>
          <a:xfrm>
            <a:off x="640080" y="777240"/>
            <a:ext cx="6583680" cy="822960"/>
          </a:xfrm>
          <a:prstGeom prst="rect">
            <a:avLst/>
          </a:prstGeom>
          <a:noFill/>
          <a:ln/>
        </p:spPr>
        <p:txBody>
          <a:bodyPr wrap="square" lIns="0" tIns="0" rIns="0" bIns="0" rtlCol="0" anchor="ctr"/>
          <a:lstStyle/>
          <a:p>
            <a:pPr marL="0" indent="0">
              <a:lnSpc>
                <a:spcPct val="102000"/>
              </a:lnSpc>
              <a:buNone/>
            </a:pPr>
            <a:r>
              <a:rPr lang="en-US" sz="3000" b="1" dirty="0">
                <a:solidFill>
                  <a:srgbClr val="1E2761"/>
                </a:solidFill>
                <a:latin typeface="Cambria" pitchFamily="34" charset="0"/>
                <a:ea typeface="Cambria" pitchFamily="34" charset="-122"/>
                <a:cs typeface="Cambria" pitchFamily="34" charset="-120"/>
              </a:rPr>
              <a:t>Why This Study</a:t>
            </a:r>
            <a:endParaRPr lang="en-US" sz="3000" dirty="0"/>
          </a:p>
        </p:txBody>
      </p:sp>
      <p:sp>
        <p:nvSpPr>
          <p:cNvPr id="4" name="Text 2"/>
          <p:cNvSpPr txBox="1"/>
          <p:nvPr/>
        </p:nvSpPr>
        <p:spPr>
          <a:xfrm>
            <a:off x="640080" y="1691640"/>
            <a:ext cx="6400800" cy="4206240"/>
          </a:xfrm>
          <a:prstGeom prst="rect">
            <a:avLst/>
          </a:prstGeom>
          <a:noFill/>
          <a:ln/>
        </p:spPr>
        <p:txBody>
          <a:bodyPr wrap="square" lIns="0" tIns="0" rIns="0" bIns="0" rtlCol="0" anchor="ctr"/>
          <a:lstStyle/>
          <a:p>
            <a:pPr marL="0" indent="0">
              <a:lnSpc>
                <a:spcPct val="132000"/>
              </a:lnSpc>
              <a:spcAft>
                <a:spcPts val="1000"/>
              </a:spcAft>
              <a:buNone/>
            </a:pPr>
            <a:r>
              <a:rPr lang="en-US" sz="1450" dirty="0">
                <a:solidFill>
                  <a:srgbClr val="1A1F3C"/>
                </a:solidFill>
                <a:latin typeface="Calibri" pitchFamily="34" charset="0"/>
                <a:ea typeface="Calibri" pitchFamily="34" charset="-122"/>
                <a:cs typeface="Calibri" pitchFamily="34" charset="-120"/>
              </a:rPr>
              <a:t>Real-time UAV object detection increasingly depends on deep models running on constrained edge hardware — single-board computers, microcontrollers, smartphones, and laptops.</a:t>
            </a:r>
            <a:endParaRPr lang="en-US" sz="1450" dirty="0"/>
          </a:p>
          <a:p>
            <a:pPr marL="0" indent="0">
              <a:lnSpc>
                <a:spcPct val="132000"/>
              </a:lnSpc>
              <a:buNone/>
            </a:pPr>
            <a:r>
              <a:rPr lang="en-US" sz="1450" dirty="0">
                <a:solidFill>
                  <a:srgbClr val="1A1F3C"/>
                </a:solidFill>
                <a:latin typeface="Calibri" pitchFamily="34" charset="0"/>
                <a:ea typeface="Calibri" pitchFamily="34" charset="-122"/>
                <a:cs typeface="Calibri" pitchFamily="34" charset="-120"/>
              </a:rPr>
              <a:t>Ultralytics YOLO11 and YOLO26 offer strong accuracy-efficiency trade-offs and target embedded deployment, yet systematic evaluation across </a:t>
            </a:r>
            <a:r>
              <a:rPr lang="en-US" sz="1450" b="1" dirty="0">
                <a:solidFill>
                  <a:srgbClr val="1A1F3C"/>
                </a:solidFill>
                <a:latin typeface="Calibri" pitchFamily="34" charset="0"/>
                <a:ea typeface="Calibri" pitchFamily="34" charset="-122"/>
                <a:cs typeface="Calibri" pitchFamily="34" charset="-120"/>
              </a:rPr>
              <a:t>heterogeneous platforms and compression techniques</a:t>
            </a:r>
            <a:r>
              <a:rPr lang="en-US" sz="1450" dirty="0">
                <a:solidFill>
                  <a:srgbClr val="1A1F3C"/>
                </a:solidFill>
                <a:latin typeface="Calibri" pitchFamily="34" charset="0"/>
                <a:ea typeface="Calibri" pitchFamily="34" charset="-122"/>
                <a:cs typeface="Calibri" pitchFamily="34" charset="-120"/>
              </a:rPr>
              <a:t> remains limited.</a:t>
            </a:r>
            <a:endParaRPr lang="en-US" sz="1450" dirty="0"/>
          </a:p>
          <a:p>
            <a:pPr marL="0" indent="0">
              <a:lnSpc>
                <a:spcPct val="132000"/>
              </a:lnSpc>
              <a:buNone/>
            </a:pPr>
            <a:r>
              <a:rPr lang="en-US" sz="1450" dirty="0">
                <a:solidFill>
                  <a:srgbClr val="1A1F3C"/>
                </a:solidFill>
                <a:latin typeface="Calibri" pitchFamily="34" charset="0"/>
                <a:ea typeface="Calibri" pitchFamily="34" charset="-122"/>
                <a:cs typeface="Calibri" pitchFamily="34" charset="-120"/>
              </a:rPr>
              <a:t>This proposal benchmarks and optimizes YOLO11/YOLO26 on the VisDrone UAV dataset — applying quantization, pruning, and knowledge distillation — to derive practical deployment guidelines for edge AI and UAV monitoring.</a:t>
            </a:r>
            <a:endParaRPr lang="en-US" sz="1450" dirty="0"/>
          </a:p>
        </p:txBody>
      </p:sp>
      <p:sp>
        <p:nvSpPr>
          <p:cNvPr id="5" name="Shape 3"/>
          <p:cNvSpPr/>
          <p:nvPr/>
        </p:nvSpPr>
        <p:spPr>
          <a:xfrm>
            <a:off x="7452360" y="1691640"/>
            <a:ext cx="4069080" cy="1051560"/>
          </a:xfrm>
          <a:prstGeom prst="roundRect">
            <a:avLst>
              <a:gd name="adj" fmla="val 7826"/>
            </a:avLst>
          </a:prstGeom>
          <a:solidFill>
            <a:srgbClr val="1E2761"/>
          </a:solidFill>
          <a:ln/>
          <a:effectLst>
            <a:outerShdw blurRad="101600" dist="38100" dir="5400000" algn="bl" rotWithShape="0">
              <a:srgbClr val="1E2761">
                <a:alpha val="18000"/>
              </a:srgbClr>
            </a:outerShdw>
          </a:effectLst>
        </p:spPr>
      </p:sp>
      <p:sp>
        <p:nvSpPr>
          <p:cNvPr id="6" name="Text 4"/>
          <p:cNvSpPr txBox="1"/>
          <p:nvPr/>
        </p:nvSpPr>
        <p:spPr>
          <a:xfrm>
            <a:off x="7680960" y="1691640"/>
            <a:ext cx="1005840" cy="105156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8686800" y="1691640"/>
            <a:ext cx="2651760" cy="10515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UAV Dataset · VisDrone</a:t>
            </a:r>
            <a:endParaRPr lang="en-US" sz="1350" dirty="0"/>
          </a:p>
        </p:txBody>
      </p:sp>
      <p:sp>
        <p:nvSpPr>
          <p:cNvPr id="8" name="Shape 6"/>
          <p:cNvSpPr/>
          <p:nvPr/>
        </p:nvSpPr>
        <p:spPr>
          <a:xfrm>
            <a:off x="7452360" y="2944368"/>
            <a:ext cx="4069080" cy="1051560"/>
          </a:xfrm>
          <a:prstGeom prst="roundRect">
            <a:avLst>
              <a:gd name="adj" fmla="val 7826"/>
            </a:avLst>
          </a:prstGeom>
          <a:solidFill>
            <a:srgbClr val="1E2761"/>
          </a:solidFill>
          <a:ln/>
          <a:effectLst>
            <a:outerShdw blurRad="101600" dist="38100" dir="5400000" algn="bl" rotWithShape="0">
              <a:srgbClr val="1E2761">
                <a:alpha val="18000"/>
              </a:srgbClr>
            </a:outerShdw>
          </a:effectLst>
        </p:spPr>
      </p:sp>
      <p:sp>
        <p:nvSpPr>
          <p:cNvPr id="9" name="Text 7"/>
          <p:cNvSpPr txBox="1"/>
          <p:nvPr/>
        </p:nvSpPr>
        <p:spPr>
          <a:xfrm>
            <a:off x="7680960" y="2944368"/>
            <a:ext cx="1005840" cy="105156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2</a:t>
            </a:r>
            <a:endParaRPr lang="en-US" sz="3400" dirty="0"/>
          </a:p>
        </p:txBody>
      </p:sp>
      <p:sp>
        <p:nvSpPr>
          <p:cNvPr id="10" name="Text 8"/>
          <p:cNvSpPr txBox="1"/>
          <p:nvPr/>
        </p:nvSpPr>
        <p:spPr>
          <a:xfrm>
            <a:off x="8686800" y="2944368"/>
            <a:ext cx="2651760" cy="10515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YOLO Families</a:t>
            </a:r>
            <a:endParaRPr lang="en-US" sz="1350" dirty="0"/>
          </a:p>
        </p:txBody>
      </p:sp>
      <p:sp>
        <p:nvSpPr>
          <p:cNvPr id="11" name="Shape 9"/>
          <p:cNvSpPr/>
          <p:nvPr/>
        </p:nvSpPr>
        <p:spPr>
          <a:xfrm>
            <a:off x="7452360" y="4197096"/>
            <a:ext cx="4069080" cy="1051560"/>
          </a:xfrm>
          <a:prstGeom prst="roundRect">
            <a:avLst>
              <a:gd name="adj" fmla="val 7826"/>
            </a:avLst>
          </a:prstGeom>
          <a:solidFill>
            <a:srgbClr val="1E2761"/>
          </a:solidFill>
          <a:ln/>
          <a:effectLst>
            <a:outerShdw blurRad="101600" dist="38100" dir="5400000" algn="bl" rotWithShape="0">
              <a:srgbClr val="1E2761">
                <a:alpha val="18000"/>
              </a:srgbClr>
            </a:outerShdw>
          </a:effectLst>
        </p:spPr>
      </p:sp>
      <p:sp>
        <p:nvSpPr>
          <p:cNvPr id="12" name="Text 10"/>
          <p:cNvSpPr txBox="1"/>
          <p:nvPr/>
        </p:nvSpPr>
        <p:spPr>
          <a:xfrm>
            <a:off x="7680960" y="4197096"/>
            <a:ext cx="1005840" cy="105156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3</a:t>
            </a:r>
            <a:endParaRPr lang="en-US" sz="3400" dirty="0"/>
          </a:p>
        </p:txBody>
      </p:sp>
      <p:sp>
        <p:nvSpPr>
          <p:cNvPr id="13" name="Text 11"/>
          <p:cNvSpPr txBox="1"/>
          <p:nvPr/>
        </p:nvSpPr>
        <p:spPr>
          <a:xfrm>
            <a:off x="8686800" y="4197096"/>
            <a:ext cx="2651760" cy="10515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Compression Techniques</a:t>
            </a:r>
            <a:endParaRPr lang="en-US" sz="1350" dirty="0"/>
          </a:p>
        </p:txBody>
      </p:sp>
      <p:sp>
        <p:nvSpPr>
          <p:cNvPr id="14" name="Shape 12"/>
          <p:cNvSpPr/>
          <p:nvPr/>
        </p:nvSpPr>
        <p:spPr>
          <a:xfrm>
            <a:off x="7452360" y="5449824"/>
            <a:ext cx="4069080" cy="1051560"/>
          </a:xfrm>
          <a:prstGeom prst="roundRect">
            <a:avLst>
              <a:gd name="adj" fmla="val 7826"/>
            </a:avLst>
          </a:prstGeom>
          <a:solidFill>
            <a:srgbClr val="1E2761"/>
          </a:solidFill>
          <a:ln/>
          <a:effectLst>
            <a:outerShdw blurRad="101600" dist="38100" dir="5400000" algn="bl" rotWithShape="0">
              <a:srgbClr val="1E2761">
                <a:alpha val="18000"/>
              </a:srgbClr>
            </a:outerShdw>
          </a:effectLst>
        </p:spPr>
      </p:sp>
      <p:sp>
        <p:nvSpPr>
          <p:cNvPr id="15" name="Text 13"/>
          <p:cNvSpPr txBox="1"/>
          <p:nvPr/>
        </p:nvSpPr>
        <p:spPr>
          <a:xfrm>
            <a:off x="7680960" y="5449824"/>
            <a:ext cx="1005840" cy="105156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4</a:t>
            </a:r>
            <a:endParaRPr lang="en-US" sz="3400" dirty="0"/>
          </a:p>
        </p:txBody>
      </p:sp>
      <p:sp>
        <p:nvSpPr>
          <p:cNvPr id="16" name="Text 14"/>
          <p:cNvSpPr txBox="1"/>
          <p:nvPr/>
        </p:nvSpPr>
        <p:spPr>
          <a:xfrm>
            <a:off x="8686800" y="5449824"/>
            <a:ext cx="2651760" cy="10515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Hardware Classes</a:t>
            </a:r>
            <a:endParaRPr lang="en-US" sz="1350" dirty="0"/>
          </a:p>
        </p:txBody>
      </p:sp>
      <p:sp>
        <p:nvSpPr>
          <p:cNvPr id="17" name="Text 15"/>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02 · PROBLEM STATEMENT</a:t>
            </a:r>
            <a:endParaRPr lang="en-US" sz="1250" dirty="0"/>
          </a:p>
        </p:txBody>
      </p:sp>
      <p:sp>
        <p:nvSpPr>
          <p:cNvPr id="3" name="Text 1"/>
          <p:cNvSpPr txBox="1"/>
          <p:nvPr/>
        </p:nvSpPr>
        <p:spPr>
          <a:xfrm>
            <a:off x="640080" y="868680"/>
            <a:ext cx="9144000" cy="822960"/>
          </a:xfrm>
          <a:prstGeom prst="rect">
            <a:avLst/>
          </a:prstGeom>
          <a:noFill/>
          <a:ln/>
        </p:spPr>
        <p:txBody>
          <a:bodyPr wrap="square" lIns="0" tIns="0" rIns="0" bIns="0" rtlCol="0" anchor="ctr"/>
          <a:lstStyle/>
          <a:p>
            <a:pPr marL="0" indent="0">
              <a:lnSpc>
                <a:spcPct val="102000"/>
              </a:lnSpc>
              <a:buNone/>
            </a:pPr>
            <a:r>
              <a:rPr lang="en-US" sz="3000" b="1" dirty="0">
                <a:solidFill>
                  <a:srgbClr val="FFFFFF"/>
                </a:solidFill>
                <a:latin typeface="Cambria" pitchFamily="34" charset="0"/>
                <a:ea typeface="Cambria" pitchFamily="34" charset="-122"/>
                <a:cs typeface="Cambria" pitchFamily="34" charset="-120"/>
              </a:rPr>
              <a:t>The Core Research Question</a:t>
            </a:r>
            <a:endParaRPr lang="en-US" sz="3000" dirty="0"/>
          </a:p>
        </p:txBody>
      </p:sp>
      <p:sp>
        <p:nvSpPr>
          <p:cNvPr id="4" name="Shape 2"/>
          <p:cNvSpPr/>
          <p:nvPr/>
        </p:nvSpPr>
        <p:spPr>
          <a:xfrm>
            <a:off x="640080" y="1783080"/>
            <a:ext cx="10881360" cy="1783080"/>
          </a:xfrm>
          <a:prstGeom prst="roundRect">
            <a:avLst>
              <a:gd name="adj" fmla="val 5128"/>
            </a:avLst>
          </a:prstGeom>
          <a:solidFill>
            <a:srgbClr val="262F6E"/>
          </a:solidFill>
          <a:ln w="12700">
            <a:solidFill>
              <a:srgbClr val="3F4B8C"/>
            </a:solidFill>
            <a:prstDash val="solid"/>
          </a:ln>
        </p:spPr>
      </p:sp>
      <p:sp>
        <p:nvSpPr>
          <p:cNvPr id="5" name="Text 3"/>
          <p:cNvSpPr txBox="1"/>
          <p:nvPr/>
        </p:nvSpPr>
        <p:spPr>
          <a:xfrm>
            <a:off x="960120" y="1965960"/>
            <a:ext cx="10241280" cy="1463040"/>
          </a:xfrm>
          <a:prstGeom prst="rect">
            <a:avLst/>
          </a:prstGeom>
          <a:noFill/>
          <a:ln/>
        </p:spPr>
        <p:txBody>
          <a:bodyPr wrap="square" lIns="0" tIns="0" rIns="0" bIns="0" rtlCol="0" anchor="ctr"/>
          <a:lstStyle/>
          <a:p>
            <a:pPr marL="0" indent="0">
              <a:lnSpc>
                <a:spcPct val="125000"/>
              </a:lnSpc>
              <a:buNone/>
            </a:pPr>
            <a:r>
              <a:rPr lang="en-US" sz="1700" i="1" dirty="0">
                <a:solidFill>
                  <a:srgbClr val="FFFFFF"/>
                </a:solidFill>
                <a:latin typeface="Cambria" pitchFamily="34" charset="0"/>
                <a:ea typeface="Cambria" pitchFamily="34" charset="-122"/>
                <a:cs typeface="Cambria" pitchFamily="34" charset="-120"/>
              </a:rPr>
              <a:t>Given YOLO11 and YOLO26 models trained on UAV imagery (VisDrone), how can quantization, structured pruning, and knowledge distillation be systematically applied to optimize deployment on Raspberry Pi 5, Jetson Nano, Samsung Galaxy M35, and laptop CPU — and what are the resulting trade-offs among mAP, FPS, latency, and power consumption?</a:t>
            </a:r>
            <a:endParaRPr lang="en-US" sz="1700" dirty="0"/>
          </a:p>
        </p:txBody>
      </p:sp>
      <p:sp>
        <p:nvSpPr>
          <p:cNvPr id="6" name="Shape 4"/>
          <p:cNvSpPr/>
          <p:nvPr/>
        </p:nvSpPr>
        <p:spPr>
          <a:xfrm>
            <a:off x="640080" y="3886200"/>
            <a:ext cx="2606040" cy="2011680"/>
          </a:xfrm>
          <a:prstGeom prst="roundRect">
            <a:avLst>
              <a:gd name="adj" fmla="val 3636"/>
            </a:avLst>
          </a:prstGeom>
          <a:solidFill>
            <a:srgbClr val="1A2358"/>
          </a:solidFill>
          <a:ln w="12700">
            <a:solidFill>
              <a:srgbClr val="3F4B8C"/>
            </a:solidFill>
            <a:prstDash val="solid"/>
          </a:ln>
        </p:spPr>
      </p:sp>
      <p:sp>
        <p:nvSpPr>
          <p:cNvPr id="7" name="Text 5"/>
          <p:cNvSpPr txBox="1"/>
          <p:nvPr/>
        </p:nvSpPr>
        <p:spPr>
          <a:xfrm>
            <a:off x="822960" y="4069080"/>
            <a:ext cx="2240280" cy="365760"/>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Model-level</a:t>
            </a:r>
            <a:endParaRPr lang="en-US" sz="1300" dirty="0"/>
          </a:p>
        </p:txBody>
      </p:sp>
      <p:sp>
        <p:nvSpPr>
          <p:cNvPr id="8" name="Text 6"/>
          <p:cNvSpPr txBox="1"/>
          <p:nvPr/>
        </p:nvSpPr>
        <p:spPr>
          <a:xfrm>
            <a:off x="822960" y="4480560"/>
            <a:ext cx="2240280" cy="128016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Select and fine-tune YOLO11/YOLO26 variants on VisDrone UAV imagery.</a:t>
            </a:r>
            <a:endParaRPr lang="en-US" sz="1200" dirty="0"/>
          </a:p>
        </p:txBody>
      </p:sp>
      <p:sp>
        <p:nvSpPr>
          <p:cNvPr id="9" name="Shape 7"/>
          <p:cNvSpPr/>
          <p:nvPr/>
        </p:nvSpPr>
        <p:spPr>
          <a:xfrm>
            <a:off x="3429000" y="3886200"/>
            <a:ext cx="2606040" cy="2011680"/>
          </a:xfrm>
          <a:prstGeom prst="roundRect">
            <a:avLst>
              <a:gd name="adj" fmla="val 3636"/>
            </a:avLst>
          </a:prstGeom>
          <a:solidFill>
            <a:srgbClr val="1A2358"/>
          </a:solidFill>
          <a:ln w="12700">
            <a:solidFill>
              <a:srgbClr val="3F4B8C"/>
            </a:solidFill>
            <a:prstDash val="solid"/>
          </a:ln>
        </p:spPr>
      </p:sp>
      <p:sp>
        <p:nvSpPr>
          <p:cNvPr id="10" name="Text 8"/>
          <p:cNvSpPr txBox="1"/>
          <p:nvPr/>
        </p:nvSpPr>
        <p:spPr>
          <a:xfrm>
            <a:off x="3611880" y="4069080"/>
            <a:ext cx="2240280" cy="365760"/>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Pipeline-level</a:t>
            </a:r>
            <a:endParaRPr lang="en-US" sz="1300" dirty="0"/>
          </a:p>
        </p:txBody>
      </p:sp>
      <p:sp>
        <p:nvSpPr>
          <p:cNvPr id="11" name="Text 9"/>
          <p:cNvSpPr txBox="1"/>
          <p:nvPr/>
        </p:nvSpPr>
        <p:spPr>
          <a:xfrm>
            <a:off x="3611880" y="4480560"/>
            <a:ext cx="2240280" cy="128016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Design one unified compression pipeline applicable across all four platforms.</a:t>
            </a:r>
            <a:endParaRPr lang="en-US" sz="1200" dirty="0"/>
          </a:p>
        </p:txBody>
      </p:sp>
      <p:sp>
        <p:nvSpPr>
          <p:cNvPr id="12" name="Shape 10"/>
          <p:cNvSpPr/>
          <p:nvPr/>
        </p:nvSpPr>
        <p:spPr>
          <a:xfrm>
            <a:off x="6217920" y="3886200"/>
            <a:ext cx="2606040" cy="2011680"/>
          </a:xfrm>
          <a:prstGeom prst="roundRect">
            <a:avLst>
              <a:gd name="adj" fmla="val 3636"/>
            </a:avLst>
          </a:prstGeom>
          <a:solidFill>
            <a:srgbClr val="1A2358"/>
          </a:solidFill>
          <a:ln w="12700">
            <a:solidFill>
              <a:srgbClr val="3F4B8C"/>
            </a:solidFill>
            <a:prstDash val="solid"/>
          </a:ln>
        </p:spPr>
      </p:sp>
      <p:sp>
        <p:nvSpPr>
          <p:cNvPr id="13" name="Text 11"/>
          <p:cNvSpPr txBox="1"/>
          <p:nvPr/>
        </p:nvSpPr>
        <p:spPr>
          <a:xfrm>
            <a:off x="6400800" y="4069080"/>
            <a:ext cx="2240280" cy="365760"/>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Systems-level</a:t>
            </a:r>
            <a:endParaRPr lang="en-US" sz="1300" dirty="0"/>
          </a:p>
        </p:txBody>
      </p:sp>
      <p:sp>
        <p:nvSpPr>
          <p:cNvPr id="14" name="Text 12"/>
          <p:cNvSpPr txBox="1"/>
          <p:nvPr/>
        </p:nvSpPr>
        <p:spPr>
          <a:xfrm>
            <a:off x="6400800" y="4480560"/>
            <a:ext cx="2240280" cy="128016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Deploy via platform-specific runtimes (TensorRT, NCNN, TFLite, ONNX Runtime).</a:t>
            </a:r>
            <a:endParaRPr lang="en-US" sz="1200" dirty="0"/>
          </a:p>
        </p:txBody>
      </p:sp>
      <p:sp>
        <p:nvSpPr>
          <p:cNvPr id="15" name="Shape 13"/>
          <p:cNvSpPr/>
          <p:nvPr/>
        </p:nvSpPr>
        <p:spPr>
          <a:xfrm>
            <a:off x="9006840" y="3886200"/>
            <a:ext cx="2606040" cy="2011680"/>
          </a:xfrm>
          <a:prstGeom prst="roundRect">
            <a:avLst>
              <a:gd name="adj" fmla="val 3636"/>
            </a:avLst>
          </a:prstGeom>
          <a:solidFill>
            <a:srgbClr val="1A2358"/>
          </a:solidFill>
          <a:ln w="12700">
            <a:solidFill>
              <a:srgbClr val="3F4B8C"/>
            </a:solidFill>
            <a:prstDash val="solid"/>
          </a:ln>
        </p:spPr>
      </p:sp>
      <p:sp>
        <p:nvSpPr>
          <p:cNvPr id="16" name="Text 14"/>
          <p:cNvSpPr txBox="1"/>
          <p:nvPr/>
        </p:nvSpPr>
        <p:spPr>
          <a:xfrm>
            <a:off x="9189720" y="4069080"/>
            <a:ext cx="2240280" cy="365760"/>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Application-level</a:t>
            </a:r>
            <a:endParaRPr lang="en-US" sz="1300" dirty="0"/>
          </a:p>
        </p:txBody>
      </p:sp>
      <p:sp>
        <p:nvSpPr>
          <p:cNvPr id="17" name="Text 15"/>
          <p:cNvSpPr txBox="1"/>
          <p:nvPr/>
        </p:nvSpPr>
        <p:spPr>
          <a:xfrm>
            <a:off x="9189720" y="4480560"/>
            <a:ext cx="2240280" cy="128016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Match UAV needs (surveillance vs. inspection) to model-hardware configs.</a:t>
            </a:r>
            <a:endParaRPr lang="en-US" sz="1200" dirty="0"/>
          </a:p>
        </p:txBody>
      </p:sp>
      <p:sp>
        <p:nvSpPr>
          <p:cNvPr id="18" name="Text 16"/>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8B98C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03 · RELATED WORK</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YOLO Architectures &amp; Embedded Deployment</a:t>
            </a:r>
            <a:endParaRPr lang="en-US" sz="2700" dirty="0"/>
          </a:p>
        </p:txBody>
      </p:sp>
      <p:sp>
        <p:nvSpPr>
          <p:cNvPr id="4" name="Shape 2"/>
          <p:cNvSpPr/>
          <p:nvPr/>
        </p:nvSpPr>
        <p:spPr>
          <a:xfrm>
            <a:off x="10424160" y="640080"/>
            <a:ext cx="868680" cy="868680"/>
          </a:xfrm>
          <a:prstGeom prst="ellipse">
            <a:avLst/>
          </a:prstGeom>
          <a:solidFill>
            <a:srgbClr val="CADCFC"/>
          </a:solidFill>
          <a:ln/>
        </p:spPr>
      </p:sp>
      <p:pic>
        <p:nvPicPr>
          <p:cNvPr id="5" name="Image 0" descr="/home/claude/deck/icons/cube_1E2761.png"/>
          <p:cNvPicPr>
            <a:picLocks noChangeAspect="1"/>
          </p:cNvPicPr>
          <p:nvPr/>
        </p:nvPicPr>
        <p:blipFill>
          <a:blip r:embed="rId3"/>
          <a:stretch>
            <a:fillRect/>
          </a:stretch>
        </p:blipFill>
        <p:spPr>
          <a:xfrm>
            <a:off x="10607040" y="822960"/>
            <a:ext cx="502920" cy="502920"/>
          </a:xfrm>
          <a:prstGeom prst="rect">
            <a:avLst/>
          </a:prstGeom>
        </p:spPr>
      </p:pic>
      <p:sp>
        <p:nvSpPr>
          <p:cNvPr id="6" name="Text 3"/>
          <p:cNvSpPr txBox="1"/>
          <p:nvPr/>
        </p:nvSpPr>
        <p:spPr>
          <a:xfrm>
            <a:off x="640080" y="1874520"/>
            <a:ext cx="5943600" cy="3840480"/>
          </a:xfrm>
          <a:prstGeom prst="rect">
            <a:avLst/>
          </a:prstGeom>
          <a:noFill/>
          <a:ln/>
        </p:spPr>
        <p:txBody>
          <a:bodyPr wrap="square" lIns="0" tIns="0" rIns="0" bIns="0" rtlCol="0" anchor="ctr"/>
          <a:lstStyle/>
          <a:p>
            <a:pPr marL="0" indent="0">
              <a:lnSpc>
                <a:spcPct val="125000"/>
              </a:lnSpc>
              <a:buNone/>
            </a:pPr>
            <a:r>
              <a:rPr lang="en-US" sz="1450" b="1" dirty="0">
                <a:solidFill>
                  <a:srgbClr val="1A1F3C"/>
                </a:solidFill>
                <a:latin typeface="Calibri" pitchFamily="34" charset="0"/>
                <a:ea typeface="Calibri" pitchFamily="34" charset="-122"/>
                <a:cs typeface="Calibri" pitchFamily="34" charset="-120"/>
              </a:rPr>
              <a:t>YOLO11</a:t>
            </a:r>
            <a:r>
              <a:rPr lang="en-US" sz="1450" dirty="0">
                <a:solidFill>
                  <a:srgbClr val="1A1F3C"/>
                </a:solidFill>
                <a:latin typeface="Calibri" pitchFamily="34" charset="0"/>
                <a:ea typeface="Calibri" pitchFamily="34" charset="-122"/>
                <a:cs typeface="Calibri" pitchFamily="34" charset="-120"/>
              </a:rPr>
              <a:t> extends earlier YOLOv8 with unified support for detection, segmentation, classification, pose, and OBB tasks at improved efficiency.</a:t>
            </a:r>
            <a:r>
              <a:rPr lang="en-US" sz="1050" b="1" u="sng" dirty="0">
                <a:solidFill>
                  <a:srgbClr val="0E7C7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 [7]</a:t>
            </a:r>
            <a:endParaRPr lang="en-US" sz="1450" dirty="0"/>
          </a:p>
          <a:p>
            <a:pPr marL="0" indent="0">
              <a:lnSpc>
                <a:spcPct val="125000"/>
              </a:lnSpc>
              <a:buNone/>
            </a:pPr>
            <a:r>
              <a:rPr lang="en-US" sz="1450" b="1" dirty="0">
                <a:solidFill>
                  <a:srgbClr val="1A1F3C"/>
                </a:solidFill>
                <a:latin typeface="Calibri" pitchFamily="34" charset="0"/>
                <a:ea typeface="Calibri" pitchFamily="34" charset="-122"/>
                <a:cs typeface="Calibri" pitchFamily="34" charset="-120"/>
              </a:rPr>
              <a:t>YOLO26</a:t>
            </a:r>
            <a:r>
              <a:rPr lang="en-US" sz="1450" dirty="0">
                <a:solidFill>
                  <a:srgbClr val="1A1F3C"/>
                </a:solidFill>
                <a:latin typeface="Calibri" pitchFamily="34" charset="0"/>
                <a:ea typeface="Calibri" pitchFamily="34" charset="-122"/>
                <a:cs typeface="Calibri" pitchFamily="34" charset="-120"/>
              </a:rPr>
              <a:t> is purpose-built for hardware-constrained devices such as Raspberry Pi 5, exporting to PyTorch, ONNX, NCNN, and LiteRT.</a:t>
            </a:r>
            <a:r>
              <a:rPr lang="en-US" sz="1050" b="1" u="sng" dirty="0">
                <a:solidFill>
                  <a:srgbClr val="0E7C7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 [7]</a:t>
            </a:r>
            <a:r>
              <a:rPr lang="en-US" sz="1050" b="1"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 [18]</a:t>
            </a:r>
            <a:r>
              <a:rPr lang="en-US" sz="1050" b="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[5]</a:t>
            </a:r>
            <a:endParaRPr lang="en-US" sz="1450" dirty="0"/>
          </a:p>
          <a:p>
            <a:pPr marL="0" indent="0">
              <a:lnSpc>
                <a:spcPct val="125000"/>
              </a:lnSpc>
              <a:buNone/>
            </a:pPr>
            <a:r>
              <a:rPr lang="en-US" sz="1450" dirty="0">
                <a:solidFill>
                  <a:srgbClr val="1A1F3C"/>
                </a:solidFill>
                <a:latin typeface="Calibri" pitchFamily="34" charset="0"/>
                <a:ea typeface="Calibri" pitchFamily="34" charset="-122"/>
                <a:cs typeface="Calibri" pitchFamily="34" charset="-120"/>
              </a:rPr>
              <a:t>On Raspberry Pi 5 (FP32), YOLO26n / YOLO26s reach </a:t>
            </a:r>
            <a:r>
              <a:rPr lang="en-US" sz="1450" b="1" dirty="0">
                <a:solidFill>
                  <a:srgbClr val="1E2761"/>
                </a:solidFill>
                <a:latin typeface="Calibri" pitchFamily="34" charset="0"/>
                <a:ea typeface="Calibri" pitchFamily="34" charset="-122"/>
                <a:cs typeface="Calibri" pitchFamily="34" charset="-120"/>
              </a:rPr>
              <a:t>~40.1 / ~47.8 mAP50-95</a:t>
            </a:r>
            <a:r>
              <a:rPr lang="en-US" sz="1450" dirty="0">
                <a:solidFill>
                  <a:srgbClr val="1A1F3C"/>
                </a:solidFill>
                <a:latin typeface="Calibri" pitchFamily="34" charset="0"/>
                <a:ea typeface="Calibri" pitchFamily="34" charset="-122"/>
                <a:cs typeface="Calibri" pitchFamily="34" charset="-120"/>
              </a:rPr>
              <a:t> at roughly 128 ms / 353 ms per image.</a:t>
            </a:r>
            <a:r>
              <a:rPr lang="en-US" sz="1050" b="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[5]</a:t>
            </a:r>
            <a:endParaRPr lang="en-US" sz="1450" dirty="0"/>
          </a:p>
        </p:txBody>
      </p:sp>
      <p:sp>
        <p:nvSpPr>
          <p:cNvPr id="7" name="Shape 4"/>
          <p:cNvSpPr/>
          <p:nvPr/>
        </p:nvSpPr>
        <p:spPr>
          <a:xfrm>
            <a:off x="6903720" y="1874520"/>
            <a:ext cx="4617720" cy="3977640"/>
          </a:xfrm>
          <a:prstGeom prst="roundRect">
            <a:avLst>
              <a:gd name="adj" fmla="val 2299"/>
            </a:avLst>
          </a:prstGeom>
          <a:solidFill>
            <a:srgbClr val="FFFFFF"/>
          </a:solidFill>
          <a:ln w="12700">
            <a:solidFill>
              <a:srgbClr val="DCE4F2"/>
            </a:solidFill>
            <a:prstDash val="solid"/>
          </a:ln>
          <a:effectLst>
            <a:outerShdw blurRad="101600" dist="25400" dir="5400000" algn="bl" rotWithShape="0">
              <a:srgbClr val="1E2761">
                <a:alpha val="10000"/>
              </a:srgbClr>
            </a:outerShdw>
          </a:effectLst>
        </p:spPr>
      </p:sp>
      <p:sp>
        <p:nvSpPr>
          <p:cNvPr id="8" name="Text 5"/>
          <p:cNvSpPr txBox="1"/>
          <p:nvPr/>
        </p:nvSpPr>
        <p:spPr>
          <a:xfrm>
            <a:off x="7178040" y="2057400"/>
            <a:ext cx="41148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Runtime Format Matters</a:t>
            </a:r>
            <a:endParaRPr lang="en-US" sz="1400" dirty="0"/>
          </a:p>
        </p:txBody>
      </p:sp>
      <p:sp>
        <p:nvSpPr>
          <p:cNvPr id="9" name="Text 6"/>
          <p:cNvSpPr txBox="1"/>
          <p:nvPr/>
        </p:nvSpPr>
        <p:spPr>
          <a:xfrm>
            <a:off x="7178040" y="2423160"/>
            <a:ext cx="4114800" cy="457200"/>
          </a:xfrm>
          <a:prstGeom prst="rect">
            <a:avLst/>
          </a:prstGeom>
          <a:noFill/>
          <a:ln/>
        </p:spPr>
        <p:txBody>
          <a:bodyPr wrap="square" lIns="0" tIns="0" rIns="0" bIns="0" rtlCol="0" anchor="ctr"/>
          <a:lstStyle/>
          <a:p>
            <a:pPr marL="0" indent="0">
              <a:buNone/>
            </a:pPr>
            <a:r>
              <a:rPr lang="en-US" sz="1100" i="1" dirty="0">
                <a:solidFill>
                  <a:srgbClr val="5C6B8A"/>
                </a:solidFill>
                <a:latin typeface="Calibri" pitchFamily="34" charset="0"/>
                <a:ea typeface="Calibri" pitchFamily="34" charset="-122"/>
                <a:cs typeface="Calibri" pitchFamily="34" charset="-120"/>
              </a:rPr>
              <a:t>Relative inference speedup on Raspberry Pi 5 vs. PyTorch baseline</a:t>
            </a:r>
            <a:endParaRPr lang="en-US" sz="1100" dirty="0"/>
          </a:p>
        </p:txBody>
      </p:sp>
      <p:sp>
        <p:nvSpPr>
          <p:cNvPr id="10" name="Text 7"/>
          <p:cNvSpPr txBox="1"/>
          <p:nvPr/>
        </p:nvSpPr>
        <p:spPr>
          <a:xfrm>
            <a:off x="7178040" y="3063240"/>
            <a:ext cx="1463040" cy="457200"/>
          </a:xfrm>
          <a:prstGeom prst="rect">
            <a:avLst/>
          </a:prstGeom>
          <a:noFill/>
          <a:ln/>
        </p:spPr>
        <p:txBody>
          <a:bodyPr wrap="square" lIns="0" tIns="0" rIns="0" bIns="0" rtlCol="0" anchor="ctr"/>
          <a:lstStyle/>
          <a:p>
            <a:pPr marL="0" indent="0">
              <a:buNone/>
            </a:pPr>
            <a:r>
              <a:rPr lang="en-US" sz="1200" dirty="0">
                <a:solidFill>
                  <a:srgbClr val="1A1F3C"/>
                </a:solidFill>
                <a:latin typeface="Calibri" pitchFamily="34" charset="0"/>
                <a:ea typeface="Calibri" pitchFamily="34" charset="-122"/>
                <a:cs typeface="Calibri" pitchFamily="34" charset="-120"/>
              </a:rPr>
              <a:t>PyTorch</a:t>
            </a:r>
            <a:endParaRPr lang="en-US" sz="1200" dirty="0"/>
          </a:p>
        </p:txBody>
      </p:sp>
      <p:sp>
        <p:nvSpPr>
          <p:cNvPr id="11" name="Shape 8"/>
          <p:cNvSpPr/>
          <p:nvPr/>
        </p:nvSpPr>
        <p:spPr>
          <a:xfrm>
            <a:off x="8686800" y="3145536"/>
            <a:ext cx="807720" cy="292608"/>
          </a:xfrm>
          <a:prstGeom prst="roundRect">
            <a:avLst>
              <a:gd name="adj" fmla="val 12500"/>
            </a:avLst>
          </a:prstGeom>
          <a:solidFill>
            <a:srgbClr val="5C6B8A"/>
          </a:solidFill>
          <a:ln/>
        </p:spPr>
      </p:sp>
      <p:sp>
        <p:nvSpPr>
          <p:cNvPr id="12" name="Text 9"/>
          <p:cNvSpPr txBox="1"/>
          <p:nvPr/>
        </p:nvSpPr>
        <p:spPr>
          <a:xfrm>
            <a:off x="9567672" y="3063240"/>
            <a:ext cx="640080" cy="457200"/>
          </a:xfrm>
          <a:prstGeom prst="rect">
            <a:avLst/>
          </a:prstGeom>
          <a:noFill/>
          <a:ln/>
        </p:spPr>
        <p:txBody>
          <a:bodyPr wrap="square" lIns="0" tIns="0" rIns="0" bIns="0"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1.0×</a:t>
            </a:r>
            <a:endParaRPr lang="en-US" sz="1150" dirty="0"/>
          </a:p>
        </p:txBody>
      </p:sp>
      <p:sp>
        <p:nvSpPr>
          <p:cNvPr id="13" name="Text 10"/>
          <p:cNvSpPr txBox="1"/>
          <p:nvPr/>
        </p:nvSpPr>
        <p:spPr>
          <a:xfrm>
            <a:off x="7178040" y="3776472"/>
            <a:ext cx="1463040" cy="457200"/>
          </a:xfrm>
          <a:prstGeom prst="rect">
            <a:avLst/>
          </a:prstGeom>
          <a:noFill/>
          <a:ln/>
        </p:spPr>
        <p:txBody>
          <a:bodyPr wrap="square" lIns="0" tIns="0" rIns="0" bIns="0" rtlCol="0" anchor="ctr"/>
          <a:lstStyle/>
          <a:p>
            <a:pPr marL="0" indent="0">
              <a:buNone/>
            </a:pPr>
            <a:r>
              <a:rPr lang="en-US" sz="1200" dirty="0">
                <a:solidFill>
                  <a:srgbClr val="1A1F3C"/>
                </a:solidFill>
                <a:latin typeface="Calibri" pitchFamily="34" charset="0"/>
                <a:ea typeface="Calibri" pitchFamily="34" charset="-122"/>
                <a:cs typeface="Calibri" pitchFamily="34" charset="-120"/>
              </a:rPr>
              <a:t>ONNX Runtime</a:t>
            </a:r>
            <a:endParaRPr lang="en-US" sz="1200" dirty="0"/>
          </a:p>
        </p:txBody>
      </p:sp>
      <p:sp>
        <p:nvSpPr>
          <p:cNvPr id="14" name="Shape 11"/>
          <p:cNvSpPr/>
          <p:nvPr/>
        </p:nvSpPr>
        <p:spPr>
          <a:xfrm>
            <a:off x="8686800" y="3858768"/>
            <a:ext cx="928878" cy="292608"/>
          </a:xfrm>
          <a:prstGeom prst="roundRect">
            <a:avLst>
              <a:gd name="adj" fmla="val 12500"/>
            </a:avLst>
          </a:prstGeom>
          <a:solidFill>
            <a:srgbClr val="0E7C7B"/>
          </a:solidFill>
          <a:ln/>
        </p:spPr>
      </p:sp>
      <p:sp>
        <p:nvSpPr>
          <p:cNvPr id="15" name="Text 12"/>
          <p:cNvSpPr txBox="1"/>
          <p:nvPr/>
        </p:nvSpPr>
        <p:spPr>
          <a:xfrm>
            <a:off x="9688830" y="3776472"/>
            <a:ext cx="640080" cy="457200"/>
          </a:xfrm>
          <a:prstGeom prst="rect">
            <a:avLst/>
          </a:prstGeom>
          <a:noFill/>
          <a:ln/>
        </p:spPr>
        <p:txBody>
          <a:bodyPr wrap="square" lIns="0" tIns="0" rIns="0" bIns="0"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1.1×</a:t>
            </a:r>
            <a:endParaRPr lang="en-US" sz="1150" dirty="0"/>
          </a:p>
        </p:txBody>
      </p:sp>
      <p:sp>
        <p:nvSpPr>
          <p:cNvPr id="16" name="Text 13"/>
          <p:cNvSpPr txBox="1"/>
          <p:nvPr/>
        </p:nvSpPr>
        <p:spPr>
          <a:xfrm>
            <a:off x="7178040" y="4489704"/>
            <a:ext cx="1463040" cy="457200"/>
          </a:xfrm>
          <a:prstGeom prst="rect">
            <a:avLst/>
          </a:prstGeom>
          <a:noFill/>
          <a:ln/>
        </p:spPr>
        <p:txBody>
          <a:bodyPr wrap="square" lIns="0" tIns="0" rIns="0" bIns="0" rtlCol="0" anchor="ctr"/>
          <a:lstStyle/>
          <a:p>
            <a:pPr marL="0" indent="0">
              <a:buNone/>
            </a:pPr>
            <a:r>
              <a:rPr lang="en-US" sz="1200" dirty="0">
                <a:solidFill>
                  <a:srgbClr val="1A1F3C"/>
                </a:solidFill>
                <a:latin typeface="Calibri" pitchFamily="34" charset="0"/>
                <a:ea typeface="Calibri" pitchFamily="34" charset="-122"/>
                <a:cs typeface="Calibri" pitchFamily="34" charset="-120"/>
              </a:rPr>
              <a:t>NCNN</a:t>
            </a:r>
            <a:endParaRPr lang="en-US" sz="1200" dirty="0"/>
          </a:p>
        </p:txBody>
      </p:sp>
      <p:sp>
        <p:nvSpPr>
          <p:cNvPr id="17" name="Shape 14"/>
          <p:cNvSpPr/>
          <p:nvPr/>
        </p:nvSpPr>
        <p:spPr>
          <a:xfrm>
            <a:off x="8686800" y="4572000"/>
            <a:ext cx="2221230" cy="292608"/>
          </a:xfrm>
          <a:prstGeom prst="roundRect">
            <a:avLst>
              <a:gd name="adj" fmla="val 12500"/>
            </a:avLst>
          </a:prstGeom>
          <a:solidFill>
            <a:srgbClr val="F2A93B"/>
          </a:solidFill>
          <a:ln/>
        </p:spPr>
      </p:sp>
      <p:sp>
        <p:nvSpPr>
          <p:cNvPr id="18" name="Text 15"/>
          <p:cNvSpPr txBox="1"/>
          <p:nvPr/>
        </p:nvSpPr>
        <p:spPr>
          <a:xfrm>
            <a:off x="10981182" y="4489704"/>
            <a:ext cx="640080" cy="457200"/>
          </a:xfrm>
          <a:prstGeom prst="rect">
            <a:avLst/>
          </a:prstGeom>
          <a:noFill/>
          <a:ln/>
        </p:spPr>
        <p:txBody>
          <a:bodyPr wrap="square" lIns="0" tIns="0" rIns="0" bIns="0"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2.8×</a:t>
            </a:r>
            <a:endParaRPr lang="en-US" sz="1150" dirty="0"/>
          </a:p>
        </p:txBody>
      </p:sp>
      <p:sp>
        <p:nvSpPr>
          <p:cNvPr id="19" name="Text 16"/>
          <p:cNvSpPr txBox="1"/>
          <p:nvPr/>
        </p:nvSpPr>
        <p:spPr>
          <a:xfrm>
            <a:off x="7178040" y="5294376"/>
            <a:ext cx="4114800" cy="731520"/>
          </a:xfrm>
          <a:prstGeom prst="rect">
            <a:avLst/>
          </a:prstGeom>
          <a:noFill/>
          <a:ln/>
        </p:spPr>
        <p:txBody>
          <a:bodyPr wrap="square" lIns="0" tIns="0" rIns="0" bIns="0" rtlCol="0" anchor="ctr"/>
          <a:lstStyle/>
          <a:p>
            <a:pPr marL="0" indent="0">
              <a:lnSpc>
                <a:spcPct val="120000"/>
              </a:lnSpc>
              <a:buNone/>
            </a:pPr>
            <a:r>
              <a:rPr lang="en-US" sz="1100" i="1" dirty="0">
                <a:solidFill>
                  <a:srgbClr val="5C6B8A"/>
                </a:solidFill>
                <a:latin typeface="Calibri" pitchFamily="34" charset="0"/>
                <a:ea typeface="Calibri" pitchFamily="34" charset="-122"/>
                <a:cs typeface="Calibri" pitchFamily="34" charset="-120"/>
              </a:rPr>
              <a:t>NCNN provides ~2-2.5× speedup over ONNX and ~2.5-3× over PyTorch on Pi-class ARM hardware. </a:t>
            </a:r>
            <a:r>
              <a:rPr lang="en-US" sz="1100" i="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Source: Ultralytics YOLO26 Raspberry Pi Guide</a:t>
            </a:r>
            <a:endParaRPr lang="en-US" sz="1100" dirty="0"/>
          </a:p>
        </p:txBody>
      </p:sp>
      <p:sp>
        <p:nvSpPr>
          <p:cNvPr id="20" name="Text 17"/>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03 · RELATED WORK</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Edge Device Benchmarking Landscape</a:t>
            </a:r>
            <a:endParaRPr lang="en-US" sz="2700" dirty="0"/>
          </a:p>
        </p:txBody>
      </p:sp>
      <p:sp>
        <p:nvSpPr>
          <p:cNvPr id="4" name="Shape 2"/>
          <p:cNvSpPr/>
          <p:nvPr/>
        </p:nvSpPr>
        <p:spPr>
          <a:xfrm>
            <a:off x="10424160" y="640080"/>
            <a:ext cx="868680" cy="868680"/>
          </a:xfrm>
          <a:prstGeom prst="ellipse">
            <a:avLst/>
          </a:prstGeom>
          <a:solidFill>
            <a:srgbClr val="CADCFC"/>
          </a:solidFill>
          <a:ln/>
        </p:spPr>
      </p:sp>
      <p:pic>
        <p:nvPicPr>
          <p:cNvPr id="5" name="Image 0" descr="/home/claude/deck/icons/chartbar_1E2761.png"/>
          <p:cNvPicPr>
            <a:picLocks noChangeAspect="1"/>
          </p:cNvPicPr>
          <p:nvPr/>
        </p:nvPicPr>
        <p:blipFill>
          <a:blip r:embed="rId3"/>
          <a:stretch>
            <a:fillRect/>
          </a:stretch>
        </p:blipFill>
        <p:spPr>
          <a:xfrm>
            <a:off x="10607040" y="822960"/>
            <a:ext cx="502920" cy="502920"/>
          </a:xfrm>
          <a:prstGeom prst="rect">
            <a:avLst/>
          </a:prstGeom>
        </p:spPr>
      </p:pic>
      <p:sp>
        <p:nvSpPr>
          <p:cNvPr id="6" name="Shape 3"/>
          <p:cNvSpPr/>
          <p:nvPr/>
        </p:nvSpPr>
        <p:spPr>
          <a:xfrm>
            <a:off x="640080" y="1874520"/>
            <a:ext cx="5257800" cy="1691640"/>
          </a:xfrm>
          <a:prstGeom prst="roundRect">
            <a:avLst>
              <a:gd name="adj" fmla="val 4865"/>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7" name="Shape 4"/>
          <p:cNvSpPr/>
          <p:nvPr/>
        </p:nvSpPr>
        <p:spPr>
          <a:xfrm>
            <a:off x="868680" y="2103120"/>
            <a:ext cx="594360" cy="594360"/>
          </a:xfrm>
          <a:prstGeom prst="ellipse">
            <a:avLst/>
          </a:prstGeom>
          <a:solidFill>
            <a:srgbClr val="EEF2FC"/>
          </a:solidFill>
          <a:ln/>
        </p:spPr>
      </p:sp>
      <p:pic>
        <p:nvPicPr>
          <p:cNvPr id="8" name="Image 1" descr="/home/claude/deck/icons/tachometer_0E7C7B.png"/>
          <p:cNvPicPr>
            <a:picLocks noChangeAspect="1"/>
          </p:cNvPicPr>
          <p:nvPr/>
        </p:nvPicPr>
        <p:blipFill>
          <a:blip r:embed="rId4"/>
          <a:stretch>
            <a:fillRect/>
          </a:stretch>
        </p:blipFill>
        <p:spPr>
          <a:xfrm>
            <a:off x="1005840" y="2240280"/>
            <a:ext cx="320040" cy="320040"/>
          </a:xfrm>
          <a:prstGeom prst="rect">
            <a:avLst/>
          </a:prstGeom>
        </p:spPr>
      </p:pic>
      <p:sp>
        <p:nvSpPr>
          <p:cNvPr id="9" name="Text 5"/>
          <p:cNvSpPr txBox="1"/>
          <p:nvPr/>
        </p:nvSpPr>
        <p:spPr>
          <a:xfrm>
            <a:off x="1645920" y="2057400"/>
            <a:ext cx="4023360" cy="41148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Raspberry Pi (no accelerator)</a:t>
            </a:r>
            <a:endParaRPr lang="en-US" sz="1350" dirty="0"/>
          </a:p>
        </p:txBody>
      </p:sp>
      <p:sp>
        <p:nvSpPr>
          <p:cNvPr id="10" name="Text 6"/>
          <p:cNvSpPr txBox="1"/>
          <p:nvPr/>
        </p:nvSpPr>
        <p:spPr>
          <a:xfrm>
            <a:off x="1645920" y="2468880"/>
            <a:ext cx="4023360" cy="9144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YOLOv8n reaches only ~37.3% mAP at ~1.25 FPS; YOLO26n reaches ~9 FPS at ~70% CPU on Pi 5 with NCNN.</a:t>
            </a:r>
            <a:r>
              <a:rPr lang="en-US" sz="1050" b="1"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 [3]</a:t>
            </a:r>
            <a:r>
              <a:rPr lang="en-US" sz="1050" b="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[5]</a:t>
            </a:r>
            <a:endParaRPr lang="en-US" sz="1150" dirty="0"/>
          </a:p>
        </p:txBody>
      </p:sp>
      <p:sp>
        <p:nvSpPr>
          <p:cNvPr id="11" name="Shape 7"/>
          <p:cNvSpPr/>
          <p:nvPr/>
        </p:nvSpPr>
        <p:spPr>
          <a:xfrm>
            <a:off x="6263640" y="1874520"/>
            <a:ext cx="5257800" cy="1691640"/>
          </a:xfrm>
          <a:prstGeom prst="roundRect">
            <a:avLst>
              <a:gd name="adj" fmla="val 4865"/>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2" name="Shape 8"/>
          <p:cNvSpPr/>
          <p:nvPr/>
        </p:nvSpPr>
        <p:spPr>
          <a:xfrm>
            <a:off x="6492240" y="2103120"/>
            <a:ext cx="594360" cy="594360"/>
          </a:xfrm>
          <a:prstGeom prst="ellipse">
            <a:avLst/>
          </a:prstGeom>
          <a:solidFill>
            <a:srgbClr val="EEF2FC"/>
          </a:solidFill>
          <a:ln/>
        </p:spPr>
      </p:sp>
      <p:pic>
        <p:nvPicPr>
          <p:cNvPr id="13" name="Image 2" descr="/home/claude/deck/icons/bolt_0E7C7B.png"/>
          <p:cNvPicPr>
            <a:picLocks noChangeAspect="1"/>
          </p:cNvPicPr>
          <p:nvPr/>
        </p:nvPicPr>
        <p:blipFill>
          <a:blip r:embed="rId7"/>
          <a:stretch>
            <a:fillRect/>
          </a:stretch>
        </p:blipFill>
        <p:spPr>
          <a:xfrm>
            <a:off x="6629400" y="2240280"/>
            <a:ext cx="320040" cy="320040"/>
          </a:xfrm>
          <a:prstGeom prst="rect">
            <a:avLst/>
          </a:prstGeom>
        </p:spPr>
      </p:pic>
      <p:sp>
        <p:nvSpPr>
          <p:cNvPr id="14" name="Text 9"/>
          <p:cNvSpPr txBox="1"/>
          <p:nvPr/>
        </p:nvSpPr>
        <p:spPr>
          <a:xfrm>
            <a:off x="7269480" y="2057400"/>
            <a:ext cx="4023360" cy="41148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Pi 5 + Hailo-8 NPU</a:t>
            </a:r>
            <a:endParaRPr lang="en-US" sz="1350" dirty="0"/>
          </a:p>
        </p:txBody>
      </p:sp>
      <p:sp>
        <p:nvSpPr>
          <p:cNvPr id="15" name="Text 10"/>
          <p:cNvSpPr txBox="1"/>
          <p:nvPr/>
        </p:nvSpPr>
        <p:spPr>
          <a:xfrm>
            <a:off x="7269480" y="2468880"/>
            <a:ext cx="4023360" cy="9144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INT8-quantized YOLOv9-C and YOLOX-Tiny exceed 150 FPS with mid-50s mAP; YOLOv8s jumps from ~2 FPS to 40-80 FPS with a Hailo accelerator.</a:t>
            </a:r>
            <a:r>
              <a:rPr lang="en-US" sz="1050" b="1" u="sng" dirty="0">
                <a:solidFill>
                  <a:srgbClr val="0E7C7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 [15]</a:t>
            </a:r>
            <a:r>
              <a:rPr lang="en-US" sz="1050" b="1" u="sng" dirty="0">
                <a:solidFill>
                  <a:srgbClr val="0E7C7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 [12]</a:t>
            </a:r>
            <a:endParaRPr lang="en-US" sz="1150" dirty="0"/>
          </a:p>
        </p:txBody>
      </p:sp>
      <p:sp>
        <p:nvSpPr>
          <p:cNvPr id="16" name="Shape 11"/>
          <p:cNvSpPr/>
          <p:nvPr/>
        </p:nvSpPr>
        <p:spPr>
          <a:xfrm>
            <a:off x="640080" y="3840480"/>
            <a:ext cx="5257800" cy="1691640"/>
          </a:xfrm>
          <a:prstGeom prst="roundRect">
            <a:avLst>
              <a:gd name="adj" fmla="val 4865"/>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7" name="Shape 12"/>
          <p:cNvSpPr/>
          <p:nvPr/>
        </p:nvSpPr>
        <p:spPr>
          <a:xfrm>
            <a:off x="868680" y="4069080"/>
            <a:ext cx="594360" cy="594360"/>
          </a:xfrm>
          <a:prstGeom prst="ellipse">
            <a:avLst/>
          </a:prstGeom>
          <a:solidFill>
            <a:srgbClr val="EEF2FC"/>
          </a:solidFill>
          <a:ln/>
        </p:spPr>
      </p:sp>
      <p:pic>
        <p:nvPicPr>
          <p:cNvPr id="18" name="Image 3" descr="/home/claude/deck/icons/chartbar_0E7C7B.png"/>
          <p:cNvPicPr>
            <a:picLocks noChangeAspect="1"/>
          </p:cNvPicPr>
          <p:nvPr/>
        </p:nvPicPr>
        <p:blipFill>
          <a:blip r:embed="rId10"/>
          <a:stretch>
            <a:fillRect/>
          </a:stretch>
        </p:blipFill>
        <p:spPr>
          <a:xfrm>
            <a:off x="1005840" y="4206240"/>
            <a:ext cx="320040" cy="320040"/>
          </a:xfrm>
          <a:prstGeom prst="rect">
            <a:avLst/>
          </a:prstGeom>
        </p:spPr>
      </p:pic>
      <p:sp>
        <p:nvSpPr>
          <p:cNvPr id="19" name="Text 13"/>
          <p:cNvSpPr txBox="1"/>
          <p:nvPr/>
        </p:nvSpPr>
        <p:spPr>
          <a:xfrm>
            <a:off x="1645920" y="4023360"/>
            <a:ext cx="4023360" cy="41148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Jetson vs. Raspberry Pi</a:t>
            </a:r>
            <a:endParaRPr lang="en-US" sz="1350" dirty="0"/>
          </a:p>
        </p:txBody>
      </p:sp>
      <p:sp>
        <p:nvSpPr>
          <p:cNvPr id="20" name="Text 14"/>
          <p:cNvSpPr txBox="1"/>
          <p:nvPr/>
        </p:nvSpPr>
        <p:spPr>
          <a:xfrm>
            <a:off x="1645920" y="4434840"/>
            <a:ext cx="4023360" cy="9144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Jetson Orin platforms generally deliver superior accuracy and latency for YOLOv8 versus Pi boards without dedicated accelerators.</a:t>
            </a:r>
            <a:r>
              <a:rPr lang="en-US" sz="1050" b="1" u="sng" dirty="0">
                <a:solidFill>
                  <a:srgbClr val="0E7C7B"/>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 [13]</a:t>
            </a:r>
            <a:r>
              <a:rPr lang="en-US" sz="1050" b="1" u="sng" dirty="0">
                <a:solidFill>
                  <a:srgbClr val="0E7C7B"/>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 [17]</a:t>
            </a:r>
            <a:endParaRPr lang="en-US" sz="1150" dirty="0"/>
          </a:p>
        </p:txBody>
      </p:sp>
      <p:sp>
        <p:nvSpPr>
          <p:cNvPr id="21" name="Shape 15"/>
          <p:cNvSpPr/>
          <p:nvPr/>
        </p:nvSpPr>
        <p:spPr>
          <a:xfrm>
            <a:off x="6263640" y="3840480"/>
            <a:ext cx="5257800" cy="1691640"/>
          </a:xfrm>
          <a:prstGeom prst="roundRect">
            <a:avLst>
              <a:gd name="adj" fmla="val 4865"/>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2" name="Shape 16"/>
          <p:cNvSpPr/>
          <p:nvPr/>
        </p:nvSpPr>
        <p:spPr>
          <a:xfrm>
            <a:off x="6492240" y="4069080"/>
            <a:ext cx="594360" cy="594360"/>
          </a:xfrm>
          <a:prstGeom prst="ellipse">
            <a:avLst/>
          </a:prstGeom>
          <a:solidFill>
            <a:srgbClr val="EEF2FC"/>
          </a:solidFill>
          <a:ln/>
        </p:spPr>
      </p:sp>
      <p:pic>
        <p:nvPicPr>
          <p:cNvPr id="23" name="Image 4" descr="/home/claude/deck/icons/cogs_0E7C7B.png"/>
          <p:cNvPicPr>
            <a:picLocks noChangeAspect="1"/>
          </p:cNvPicPr>
          <p:nvPr/>
        </p:nvPicPr>
        <p:blipFill>
          <a:blip r:embed="rId13"/>
          <a:stretch>
            <a:fillRect/>
          </a:stretch>
        </p:blipFill>
        <p:spPr>
          <a:xfrm>
            <a:off x="6629400" y="4206240"/>
            <a:ext cx="320040" cy="320040"/>
          </a:xfrm>
          <a:prstGeom prst="rect">
            <a:avLst/>
          </a:prstGeom>
        </p:spPr>
      </p:pic>
      <p:sp>
        <p:nvSpPr>
          <p:cNvPr id="24" name="Text 17"/>
          <p:cNvSpPr txBox="1"/>
          <p:nvPr/>
        </p:nvSpPr>
        <p:spPr>
          <a:xfrm>
            <a:off x="7269480" y="4023360"/>
            <a:ext cx="4023360" cy="41148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YOLOv7 on Jetson Nano</a:t>
            </a:r>
            <a:endParaRPr lang="en-US" sz="1350" dirty="0"/>
          </a:p>
        </p:txBody>
      </p:sp>
      <p:sp>
        <p:nvSpPr>
          <p:cNvPr id="25" name="Text 18"/>
          <p:cNvSpPr txBox="1"/>
          <p:nvPr/>
        </p:nvSpPr>
        <p:spPr>
          <a:xfrm>
            <a:off x="7269480" y="4434840"/>
            <a:ext cx="4023360" cy="9144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TensorRT + quantization achieves &gt;92% detection accuracy at ~118 ms/frame under low-power settings.</a:t>
            </a:r>
            <a:r>
              <a:rPr lang="en-US" sz="1050" b="1" u="sng" dirty="0">
                <a:solidFill>
                  <a:srgbClr val="0E7C7B"/>
                </a:solidFill>
                <a:latin typeface="Calibri" pitchFamily="34" charset="0"/>
                <a:ea typeface="Calibri" pitchFamily="34" charset="-122"/>
                <a:cs typeface="Calibri" pitchFamily="34" charset="-120"/>
                <a:hlinkClick r:id="rId14">
                  <a:extLst>
                    <a:ext uri="{A12FA001-AC4F-418D-AE19-62706E023703}">
                      <ahyp:hlinkClr xmlns:ahyp="http://schemas.microsoft.com/office/drawing/2018/hyperlinkcolor" val="tx"/>
                    </a:ext>
                  </a:extLst>
                </a:hlinkClick>
              </a:rPr>
              <a:t> [16]</a:t>
            </a:r>
            <a:endParaRPr lang="en-US" sz="1150" dirty="0"/>
          </a:p>
        </p:txBody>
      </p:sp>
      <p:sp>
        <p:nvSpPr>
          <p:cNvPr id="26" name="Text 19"/>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03 · RELATED WORK</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Model Compression Techniques</a:t>
            </a:r>
            <a:endParaRPr lang="en-US" sz="2700" dirty="0"/>
          </a:p>
        </p:txBody>
      </p:sp>
      <p:sp>
        <p:nvSpPr>
          <p:cNvPr id="4" name="Shape 2"/>
          <p:cNvSpPr/>
          <p:nvPr/>
        </p:nvSpPr>
        <p:spPr>
          <a:xfrm>
            <a:off x="10424160" y="640080"/>
            <a:ext cx="868680" cy="868680"/>
          </a:xfrm>
          <a:prstGeom prst="ellipse">
            <a:avLst/>
          </a:prstGeom>
          <a:solidFill>
            <a:srgbClr val="CADCFC"/>
          </a:solidFill>
          <a:ln/>
        </p:spPr>
      </p:sp>
      <p:pic>
        <p:nvPicPr>
          <p:cNvPr id="5" name="Image 0" descr="/home/claude/deck/icons/layergroup_1E2761.png"/>
          <p:cNvPicPr>
            <a:picLocks noChangeAspect="1"/>
          </p:cNvPicPr>
          <p:nvPr/>
        </p:nvPicPr>
        <p:blipFill>
          <a:blip r:embed="rId3"/>
          <a:stretch>
            <a:fillRect/>
          </a:stretch>
        </p:blipFill>
        <p:spPr>
          <a:xfrm>
            <a:off x="10607040" y="822960"/>
            <a:ext cx="502920" cy="502920"/>
          </a:xfrm>
          <a:prstGeom prst="rect">
            <a:avLst/>
          </a:prstGeom>
        </p:spPr>
      </p:pic>
      <p:sp>
        <p:nvSpPr>
          <p:cNvPr id="6" name="Shape 3"/>
          <p:cNvSpPr/>
          <p:nvPr/>
        </p:nvSpPr>
        <p:spPr>
          <a:xfrm>
            <a:off x="640080" y="1874520"/>
            <a:ext cx="3520440" cy="393192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7" name="Shape 4"/>
          <p:cNvSpPr/>
          <p:nvPr/>
        </p:nvSpPr>
        <p:spPr>
          <a:xfrm>
            <a:off x="640080" y="1874520"/>
            <a:ext cx="3520440" cy="109728"/>
          </a:xfrm>
          <a:prstGeom prst="roundRect">
            <a:avLst/>
          </a:prstGeom>
          <a:solidFill>
            <a:srgbClr val="F2A93B"/>
          </a:solidFill>
          <a:ln/>
        </p:spPr>
      </p:sp>
      <p:sp>
        <p:nvSpPr>
          <p:cNvPr id="8" name="Shape 5"/>
          <p:cNvSpPr/>
          <p:nvPr/>
        </p:nvSpPr>
        <p:spPr>
          <a:xfrm>
            <a:off x="1988820" y="2240280"/>
            <a:ext cx="822960" cy="822960"/>
          </a:xfrm>
          <a:prstGeom prst="ellipse">
            <a:avLst/>
          </a:prstGeom>
          <a:solidFill>
            <a:srgbClr val="EEF2FC"/>
          </a:solidFill>
          <a:ln/>
        </p:spPr>
      </p:sp>
      <p:pic>
        <p:nvPicPr>
          <p:cNvPr id="9" name="Image 1" descr="/home/claude/deck/icons/compress_F2A93B.png"/>
          <p:cNvPicPr>
            <a:picLocks noChangeAspect="1"/>
          </p:cNvPicPr>
          <p:nvPr/>
        </p:nvPicPr>
        <p:blipFill>
          <a:blip r:embed="rId4"/>
          <a:stretch>
            <a:fillRect/>
          </a:stretch>
        </p:blipFill>
        <p:spPr>
          <a:xfrm>
            <a:off x="2171700" y="2423160"/>
            <a:ext cx="457200" cy="457200"/>
          </a:xfrm>
          <a:prstGeom prst="rect">
            <a:avLst/>
          </a:prstGeom>
        </p:spPr>
      </p:pic>
      <p:sp>
        <p:nvSpPr>
          <p:cNvPr id="10" name="Text 6"/>
          <p:cNvSpPr txBox="1"/>
          <p:nvPr/>
        </p:nvSpPr>
        <p:spPr>
          <a:xfrm>
            <a:off x="822960" y="3246120"/>
            <a:ext cx="3154680" cy="411480"/>
          </a:xfrm>
          <a:prstGeom prst="rect">
            <a:avLst/>
          </a:prstGeom>
          <a:noFill/>
          <a:ln/>
        </p:spPr>
        <p:txBody>
          <a:bodyPr wrap="square" lIns="0" tIns="0" rIns="0" bIns="0" rtlCol="0" anchor="ctr"/>
          <a:lstStyle/>
          <a:p>
            <a:pPr marL="0" indent="0" algn="ctr">
              <a:buNone/>
            </a:pPr>
            <a:r>
              <a:rPr lang="en-US" sz="1550" b="1" dirty="0">
                <a:solidFill>
                  <a:srgbClr val="1E2761"/>
                </a:solidFill>
                <a:latin typeface="Calibri" pitchFamily="34" charset="0"/>
                <a:ea typeface="Calibri" pitchFamily="34" charset="-122"/>
                <a:cs typeface="Calibri" pitchFamily="34" charset="-120"/>
              </a:rPr>
              <a:t>Quantization</a:t>
            </a:r>
            <a:endParaRPr lang="en-US" sz="1550" dirty="0"/>
          </a:p>
        </p:txBody>
      </p:sp>
      <p:sp>
        <p:nvSpPr>
          <p:cNvPr id="11" name="Text 7"/>
          <p:cNvSpPr txBox="1"/>
          <p:nvPr/>
        </p:nvSpPr>
        <p:spPr>
          <a:xfrm>
            <a:off x="914400" y="3749040"/>
            <a:ext cx="2971800" cy="1874520"/>
          </a:xfrm>
          <a:prstGeom prst="rect">
            <a:avLst/>
          </a:prstGeom>
          <a:noFill/>
          <a:ln/>
        </p:spPr>
        <p:txBody>
          <a:bodyPr wrap="square" lIns="0" tIns="0" rIns="0" bIns="0" rtlCol="0" anchor="ctr"/>
          <a:lstStyle/>
          <a:p>
            <a:pPr marL="0" indent="0" algn="ctr">
              <a:lnSpc>
                <a:spcPct val="125000"/>
              </a:lnSpc>
              <a:buNone/>
            </a:pPr>
            <a:r>
              <a:rPr lang="en-US" sz="1200" dirty="0">
                <a:solidFill>
                  <a:srgbClr val="1A1F3C"/>
                </a:solidFill>
                <a:latin typeface="Calibri" pitchFamily="34" charset="0"/>
                <a:ea typeface="Calibri" pitchFamily="34" charset="-122"/>
                <a:cs typeface="Calibri" pitchFamily="34" charset="-120"/>
              </a:rPr>
              <a:t>Reduces weights/activations from FP32 to FP16 or INT8, cutting memory and boosting speed at a modest accuracy cost. INT8 calibration on VisDrone images limits the loss.</a:t>
            </a:r>
            <a:r>
              <a:rPr lang="en-US" sz="1050" b="1"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 [4]</a:t>
            </a:r>
            <a:r>
              <a:rPr lang="en-US" sz="1050" b="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[1]</a:t>
            </a:r>
            <a:endParaRPr lang="en-US" sz="1200" dirty="0"/>
          </a:p>
        </p:txBody>
      </p:sp>
      <p:sp>
        <p:nvSpPr>
          <p:cNvPr id="12" name="Shape 8"/>
          <p:cNvSpPr/>
          <p:nvPr/>
        </p:nvSpPr>
        <p:spPr>
          <a:xfrm>
            <a:off x="4389120" y="1874520"/>
            <a:ext cx="3520440" cy="393192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3" name="Shape 9"/>
          <p:cNvSpPr/>
          <p:nvPr/>
        </p:nvSpPr>
        <p:spPr>
          <a:xfrm>
            <a:off x="4389120" y="1874520"/>
            <a:ext cx="3520440" cy="109728"/>
          </a:xfrm>
          <a:prstGeom prst="roundRect">
            <a:avLst/>
          </a:prstGeom>
          <a:solidFill>
            <a:srgbClr val="0E7C7B"/>
          </a:solidFill>
          <a:ln/>
        </p:spPr>
      </p:sp>
      <p:sp>
        <p:nvSpPr>
          <p:cNvPr id="14" name="Shape 10"/>
          <p:cNvSpPr/>
          <p:nvPr/>
        </p:nvSpPr>
        <p:spPr>
          <a:xfrm>
            <a:off x="5737860" y="2240280"/>
            <a:ext cx="822960" cy="822960"/>
          </a:xfrm>
          <a:prstGeom prst="ellipse">
            <a:avLst/>
          </a:prstGeom>
          <a:solidFill>
            <a:srgbClr val="EEF2FC"/>
          </a:solidFill>
          <a:ln/>
        </p:spPr>
      </p:sp>
      <p:pic>
        <p:nvPicPr>
          <p:cNvPr id="15" name="Image 2" descr="/home/claude/deck/icons/cut_0E7C7B.png"/>
          <p:cNvPicPr>
            <a:picLocks noChangeAspect="1"/>
          </p:cNvPicPr>
          <p:nvPr/>
        </p:nvPicPr>
        <p:blipFill>
          <a:blip r:embed="rId7"/>
          <a:stretch>
            <a:fillRect/>
          </a:stretch>
        </p:blipFill>
        <p:spPr>
          <a:xfrm>
            <a:off x="5920740" y="2423160"/>
            <a:ext cx="457200" cy="457200"/>
          </a:xfrm>
          <a:prstGeom prst="rect">
            <a:avLst/>
          </a:prstGeom>
        </p:spPr>
      </p:pic>
      <p:sp>
        <p:nvSpPr>
          <p:cNvPr id="16" name="Text 11"/>
          <p:cNvSpPr txBox="1"/>
          <p:nvPr/>
        </p:nvSpPr>
        <p:spPr>
          <a:xfrm>
            <a:off x="4572000" y="3246120"/>
            <a:ext cx="3154680" cy="411480"/>
          </a:xfrm>
          <a:prstGeom prst="rect">
            <a:avLst/>
          </a:prstGeom>
          <a:noFill/>
          <a:ln/>
        </p:spPr>
        <p:txBody>
          <a:bodyPr wrap="square" lIns="0" tIns="0" rIns="0" bIns="0" rtlCol="0" anchor="ctr"/>
          <a:lstStyle/>
          <a:p>
            <a:pPr marL="0" indent="0" algn="ctr">
              <a:buNone/>
            </a:pPr>
            <a:r>
              <a:rPr lang="en-US" sz="1550" b="1" dirty="0">
                <a:solidFill>
                  <a:srgbClr val="1E2761"/>
                </a:solidFill>
                <a:latin typeface="Calibri" pitchFamily="34" charset="0"/>
                <a:ea typeface="Calibri" pitchFamily="34" charset="-122"/>
                <a:cs typeface="Calibri" pitchFamily="34" charset="-120"/>
              </a:rPr>
              <a:t>Structured Pruning</a:t>
            </a:r>
            <a:endParaRPr lang="en-US" sz="1550" dirty="0"/>
          </a:p>
        </p:txBody>
      </p:sp>
      <p:sp>
        <p:nvSpPr>
          <p:cNvPr id="17" name="Text 12"/>
          <p:cNvSpPr txBox="1"/>
          <p:nvPr/>
        </p:nvSpPr>
        <p:spPr>
          <a:xfrm>
            <a:off x="4663440" y="3749040"/>
            <a:ext cx="2971800" cy="1874520"/>
          </a:xfrm>
          <a:prstGeom prst="rect">
            <a:avLst/>
          </a:prstGeom>
          <a:noFill/>
          <a:ln/>
        </p:spPr>
        <p:txBody>
          <a:bodyPr wrap="square" lIns="0" tIns="0" rIns="0" bIns="0" rtlCol="0" anchor="ctr"/>
          <a:lstStyle/>
          <a:p>
            <a:pPr marL="0" indent="0" algn="ctr">
              <a:lnSpc>
                <a:spcPct val="125000"/>
              </a:lnSpc>
              <a:buNone/>
            </a:pPr>
            <a:r>
              <a:rPr lang="en-US" sz="1200" dirty="0">
                <a:solidFill>
                  <a:srgbClr val="1A1F3C"/>
                </a:solidFill>
                <a:latin typeface="Calibri" pitchFamily="34" charset="0"/>
                <a:ea typeface="Calibri" pitchFamily="34" charset="-122"/>
                <a:cs typeface="Calibri" pitchFamily="34" charset="-120"/>
              </a:rPr>
              <a:t>Removes redundant channels from backbone/neck layers. Up to 50% parameter reduction has been reported with under 5% mAP degradation after fine-tuning.</a:t>
            </a:r>
            <a:r>
              <a:rPr lang="en-US" sz="1050" b="1"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 [4]</a:t>
            </a:r>
            <a:r>
              <a:rPr lang="en-US" sz="1050" b="1"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[1]</a:t>
            </a:r>
            <a:endParaRPr lang="en-US" sz="1200" dirty="0"/>
          </a:p>
        </p:txBody>
      </p:sp>
      <p:sp>
        <p:nvSpPr>
          <p:cNvPr id="18" name="Shape 13"/>
          <p:cNvSpPr/>
          <p:nvPr/>
        </p:nvSpPr>
        <p:spPr>
          <a:xfrm>
            <a:off x="8138160" y="1874520"/>
            <a:ext cx="3520440" cy="393192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9" name="Shape 14"/>
          <p:cNvSpPr/>
          <p:nvPr/>
        </p:nvSpPr>
        <p:spPr>
          <a:xfrm>
            <a:off x="8138160" y="1874520"/>
            <a:ext cx="3520440" cy="109728"/>
          </a:xfrm>
          <a:prstGeom prst="roundRect">
            <a:avLst/>
          </a:prstGeom>
          <a:solidFill>
            <a:srgbClr val="1E2761"/>
          </a:solidFill>
          <a:ln/>
        </p:spPr>
      </p:sp>
      <p:sp>
        <p:nvSpPr>
          <p:cNvPr id="20" name="Shape 15"/>
          <p:cNvSpPr/>
          <p:nvPr/>
        </p:nvSpPr>
        <p:spPr>
          <a:xfrm>
            <a:off x="9486900" y="2240280"/>
            <a:ext cx="822960" cy="822960"/>
          </a:xfrm>
          <a:prstGeom prst="ellipse">
            <a:avLst/>
          </a:prstGeom>
          <a:solidFill>
            <a:srgbClr val="EEF2FC"/>
          </a:solidFill>
          <a:ln/>
        </p:spPr>
      </p:sp>
      <p:pic>
        <p:nvPicPr>
          <p:cNvPr id="21" name="Image 3" descr="/home/claude/deck/icons/gradcap_1E2761.png"/>
          <p:cNvPicPr>
            <a:picLocks noChangeAspect="1"/>
          </p:cNvPicPr>
          <p:nvPr/>
        </p:nvPicPr>
        <p:blipFill>
          <a:blip r:embed="rId8"/>
          <a:stretch>
            <a:fillRect/>
          </a:stretch>
        </p:blipFill>
        <p:spPr>
          <a:xfrm>
            <a:off x="9669780" y="2423160"/>
            <a:ext cx="457200" cy="457200"/>
          </a:xfrm>
          <a:prstGeom prst="rect">
            <a:avLst/>
          </a:prstGeom>
        </p:spPr>
      </p:pic>
      <p:sp>
        <p:nvSpPr>
          <p:cNvPr id="22" name="Text 16"/>
          <p:cNvSpPr txBox="1"/>
          <p:nvPr/>
        </p:nvSpPr>
        <p:spPr>
          <a:xfrm>
            <a:off x="8321040" y="3246120"/>
            <a:ext cx="3154680" cy="411480"/>
          </a:xfrm>
          <a:prstGeom prst="rect">
            <a:avLst/>
          </a:prstGeom>
          <a:noFill/>
          <a:ln/>
        </p:spPr>
        <p:txBody>
          <a:bodyPr wrap="square" lIns="0" tIns="0" rIns="0" bIns="0" rtlCol="0" anchor="ctr"/>
          <a:lstStyle/>
          <a:p>
            <a:pPr marL="0" indent="0" algn="ctr">
              <a:buNone/>
            </a:pPr>
            <a:r>
              <a:rPr lang="en-US" sz="1550" b="1" dirty="0">
                <a:solidFill>
                  <a:srgbClr val="1E2761"/>
                </a:solidFill>
                <a:latin typeface="Calibri" pitchFamily="34" charset="0"/>
                <a:ea typeface="Calibri" pitchFamily="34" charset="-122"/>
                <a:cs typeface="Calibri" pitchFamily="34" charset="-120"/>
              </a:rPr>
              <a:t>Knowledge Distillation</a:t>
            </a:r>
            <a:endParaRPr lang="en-US" sz="1550" dirty="0"/>
          </a:p>
        </p:txBody>
      </p:sp>
      <p:sp>
        <p:nvSpPr>
          <p:cNvPr id="23" name="Text 17"/>
          <p:cNvSpPr txBox="1"/>
          <p:nvPr/>
        </p:nvSpPr>
        <p:spPr>
          <a:xfrm>
            <a:off x="8412480" y="3749040"/>
            <a:ext cx="2971800" cy="1874520"/>
          </a:xfrm>
          <a:prstGeom prst="rect">
            <a:avLst/>
          </a:prstGeom>
          <a:noFill/>
          <a:ln/>
        </p:spPr>
        <p:txBody>
          <a:bodyPr wrap="square" lIns="0" tIns="0" rIns="0" bIns="0" rtlCol="0" anchor="ctr"/>
          <a:lstStyle/>
          <a:p>
            <a:pPr marL="0" indent="0" algn="ctr">
              <a:lnSpc>
                <a:spcPct val="125000"/>
              </a:lnSpc>
              <a:buNone/>
            </a:pPr>
            <a:r>
              <a:rPr lang="en-US" sz="1200" dirty="0">
                <a:solidFill>
                  <a:srgbClr val="1A1F3C"/>
                </a:solidFill>
                <a:latin typeface="Calibri" pitchFamily="34" charset="0"/>
                <a:ea typeface="Calibri" pitchFamily="34" charset="-122"/>
                <a:cs typeface="Calibri" pitchFamily="34" charset="-120"/>
              </a:rPr>
              <a:t>Transfers knowledge from a larger teacher (e.g. YOLO26m) to a compact student. Combined pipelines report up to 47 FPS with mAP above 90%.</a:t>
            </a:r>
            <a:r>
              <a:rPr lang="en-US" sz="1050" b="1" u="sng" dirty="0">
                <a:solidFill>
                  <a:srgbClr val="0E7C7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 [2]</a:t>
            </a:r>
            <a:endParaRPr lang="en-US" sz="1200" dirty="0"/>
          </a:p>
        </p:txBody>
      </p:sp>
      <p:sp>
        <p:nvSpPr>
          <p:cNvPr id="24" name="Text 18"/>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04 · RESEARCH GAPS</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What's Missing in the Literature</a:t>
            </a:r>
            <a:endParaRPr lang="en-US" sz="2700" dirty="0"/>
          </a:p>
        </p:txBody>
      </p:sp>
      <p:sp>
        <p:nvSpPr>
          <p:cNvPr id="4" name="Shape 2"/>
          <p:cNvSpPr/>
          <p:nvPr/>
        </p:nvSpPr>
        <p:spPr>
          <a:xfrm>
            <a:off x="640080" y="1965960"/>
            <a:ext cx="10881360" cy="1234440"/>
          </a:xfrm>
          <a:prstGeom prst="roundRect">
            <a:avLst>
              <a:gd name="adj" fmla="val 6667"/>
            </a:avLst>
          </a:prstGeom>
          <a:solidFill>
            <a:srgbClr val="FFFFFF"/>
          </a:solidFill>
          <a:ln w="15240">
            <a:solidFill>
              <a:srgbClr val="F0D9A8"/>
            </a:solidFill>
            <a:prstDash val="solid"/>
          </a:ln>
          <a:effectLst>
            <a:outerShdw blurRad="76200" dist="25400" dir="5400000" algn="bl" rotWithShape="0">
              <a:srgbClr val="1E2761">
                <a:alpha val="7000"/>
              </a:srgbClr>
            </a:outerShdw>
          </a:effectLst>
        </p:spPr>
      </p:sp>
      <p:sp>
        <p:nvSpPr>
          <p:cNvPr id="5" name="Shape 3"/>
          <p:cNvSpPr/>
          <p:nvPr/>
        </p:nvSpPr>
        <p:spPr>
          <a:xfrm>
            <a:off x="896112" y="2263140"/>
            <a:ext cx="640080" cy="640080"/>
          </a:xfrm>
          <a:prstGeom prst="ellipse">
            <a:avLst/>
          </a:prstGeom>
          <a:solidFill>
            <a:srgbClr val="FDF0DA"/>
          </a:solidFill>
          <a:ln/>
        </p:spPr>
      </p:sp>
      <p:pic>
        <p:nvPicPr>
          <p:cNvPr id="6" name="Image 0" descr="/home/claude/deck/icons/warning_F2A93B.png"/>
          <p:cNvPicPr>
            <a:picLocks noChangeAspect="1"/>
          </p:cNvPicPr>
          <p:nvPr/>
        </p:nvPicPr>
        <p:blipFill>
          <a:blip r:embed="rId3"/>
          <a:stretch>
            <a:fillRect/>
          </a:stretch>
        </p:blipFill>
        <p:spPr>
          <a:xfrm>
            <a:off x="1042416" y="2409444"/>
            <a:ext cx="347472" cy="347472"/>
          </a:xfrm>
          <a:prstGeom prst="rect">
            <a:avLst/>
          </a:prstGeom>
        </p:spPr>
      </p:pic>
      <p:sp>
        <p:nvSpPr>
          <p:cNvPr id="7" name="Text 4"/>
          <p:cNvSpPr txBox="1"/>
          <p:nvPr/>
        </p:nvSpPr>
        <p:spPr>
          <a:xfrm>
            <a:off x="1783080" y="2103120"/>
            <a:ext cx="1828800" cy="320040"/>
          </a:xfrm>
          <a:prstGeom prst="rect">
            <a:avLst/>
          </a:prstGeom>
          <a:noFill/>
          <a:ln/>
        </p:spPr>
        <p:txBody>
          <a:bodyPr wrap="square" lIns="0" tIns="0" rIns="0" bIns="0" rtlCol="0" anchor="ctr"/>
          <a:lstStyle/>
          <a:p>
            <a:pPr marL="0" indent="0">
              <a:buNone/>
            </a:pPr>
            <a:r>
              <a:rPr lang="en-US" sz="1150" b="1" kern="0" spc="150" dirty="0">
                <a:solidFill>
                  <a:srgbClr val="F2A93B"/>
                </a:solidFill>
                <a:latin typeface="Calibri" pitchFamily="34" charset="0"/>
                <a:ea typeface="Calibri" pitchFamily="34" charset="-122"/>
                <a:cs typeface="Calibri" pitchFamily="34" charset="-120"/>
              </a:rPr>
              <a:t>Gap 01</a:t>
            </a:r>
            <a:endParaRPr lang="en-US" sz="1150" dirty="0"/>
          </a:p>
        </p:txBody>
      </p:sp>
      <p:sp>
        <p:nvSpPr>
          <p:cNvPr id="8" name="Text 5"/>
          <p:cNvSpPr txBox="1"/>
          <p:nvPr/>
        </p:nvSpPr>
        <p:spPr>
          <a:xfrm>
            <a:off x="1783080" y="2404872"/>
            <a:ext cx="8595360" cy="685800"/>
          </a:xfrm>
          <a:prstGeom prst="rect">
            <a:avLst/>
          </a:prstGeom>
          <a:noFill/>
          <a:ln/>
        </p:spPr>
        <p:txBody>
          <a:bodyPr wrap="square" lIns="0" tIns="0" rIns="0" bIns="0" rtlCol="0" anchor="ctr"/>
          <a:lstStyle/>
          <a:p>
            <a:pPr marL="0" indent="0">
              <a:lnSpc>
                <a:spcPct val="120000"/>
              </a:lnSpc>
              <a:buNone/>
            </a:pPr>
            <a:r>
              <a:rPr lang="en-US" sz="1350" dirty="0">
                <a:solidFill>
                  <a:srgbClr val="1A1F3C"/>
                </a:solidFill>
                <a:latin typeface="Calibri" pitchFamily="34" charset="0"/>
                <a:ea typeface="Calibri" pitchFamily="34" charset="-122"/>
                <a:cs typeface="Calibri" pitchFamily="34" charset="-120"/>
              </a:rPr>
              <a:t>No systematic benchmark of modern YOLO11/YOLO26 variants trained on UAV data (VisDrone) across truly heterogeneous hardware — Raspberry Pi, Jetson Nano, smartphone, and laptop together.</a:t>
            </a:r>
            <a:endParaRPr lang="en-US" sz="1350" dirty="0"/>
          </a:p>
        </p:txBody>
      </p:sp>
      <p:sp>
        <p:nvSpPr>
          <p:cNvPr id="9" name="Shape 6"/>
          <p:cNvSpPr/>
          <p:nvPr/>
        </p:nvSpPr>
        <p:spPr>
          <a:xfrm>
            <a:off x="640080" y="3456432"/>
            <a:ext cx="10881360" cy="1234440"/>
          </a:xfrm>
          <a:prstGeom prst="roundRect">
            <a:avLst>
              <a:gd name="adj" fmla="val 6667"/>
            </a:avLst>
          </a:prstGeom>
          <a:solidFill>
            <a:srgbClr val="FFFFFF"/>
          </a:solidFill>
          <a:ln w="15240">
            <a:solidFill>
              <a:srgbClr val="F0D9A8"/>
            </a:solidFill>
            <a:prstDash val="solid"/>
          </a:ln>
          <a:effectLst>
            <a:outerShdw blurRad="76200" dist="25400" dir="5400000" algn="bl" rotWithShape="0">
              <a:srgbClr val="1E2761">
                <a:alpha val="7000"/>
              </a:srgbClr>
            </a:outerShdw>
          </a:effectLst>
        </p:spPr>
      </p:sp>
      <p:sp>
        <p:nvSpPr>
          <p:cNvPr id="10" name="Shape 7"/>
          <p:cNvSpPr/>
          <p:nvPr/>
        </p:nvSpPr>
        <p:spPr>
          <a:xfrm>
            <a:off x="896112" y="3753612"/>
            <a:ext cx="640080" cy="640080"/>
          </a:xfrm>
          <a:prstGeom prst="ellipse">
            <a:avLst/>
          </a:prstGeom>
          <a:solidFill>
            <a:srgbClr val="FDF0DA"/>
          </a:solidFill>
          <a:ln/>
        </p:spPr>
      </p:sp>
      <p:pic>
        <p:nvPicPr>
          <p:cNvPr id="11" name="Image 1" descr="/home/claude/deck/icons/warning_F2A93B.png"/>
          <p:cNvPicPr>
            <a:picLocks noChangeAspect="1"/>
          </p:cNvPicPr>
          <p:nvPr/>
        </p:nvPicPr>
        <p:blipFill>
          <a:blip r:embed="rId3"/>
          <a:stretch>
            <a:fillRect/>
          </a:stretch>
        </p:blipFill>
        <p:spPr>
          <a:xfrm>
            <a:off x="1042416" y="3899916"/>
            <a:ext cx="347472" cy="347472"/>
          </a:xfrm>
          <a:prstGeom prst="rect">
            <a:avLst/>
          </a:prstGeom>
        </p:spPr>
      </p:pic>
      <p:sp>
        <p:nvSpPr>
          <p:cNvPr id="12" name="Text 8"/>
          <p:cNvSpPr txBox="1"/>
          <p:nvPr/>
        </p:nvSpPr>
        <p:spPr>
          <a:xfrm>
            <a:off x="1783080" y="3593592"/>
            <a:ext cx="1828800" cy="320040"/>
          </a:xfrm>
          <a:prstGeom prst="rect">
            <a:avLst/>
          </a:prstGeom>
          <a:noFill/>
          <a:ln/>
        </p:spPr>
        <p:txBody>
          <a:bodyPr wrap="square" lIns="0" tIns="0" rIns="0" bIns="0" rtlCol="0" anchor="ctr"/>
          <a:lstStyle/>
          <a:p>
            <a:pPr marL="0" indent="0">
              <a:buNone/>
            </a:pPr>
            <a:r>
              <a:rPr lang="en-US" sz="1150" b="1" kern="0" spc="150" dirty="0">
                <a:solidFill>
                  <a:srgbClr val="F2A93B"/>
                </a:solidFill>
                <a:latin typeface="Calibri" pitchFamily="34" charset="0"/>
                <a:ea typeface="Calibri" pitchFamily="34" charset="-122"/>
                <a:cs typeface="Calibri" pitchFamily="34" charset="-120"/>
              </a:rPr>
              <a:t>Gap 02</a:t>
            </a:r>
            <a:endParaRPr lang="en-US" sz="1150" dirty="0"/>
          </a:p>
        </p:txBody>
      </p:sp>
      <p:sp>
        <p:nvSpPr>
          <p:cNvPr id="13" name="Text 9"/>
          <p:cNvSpPr txBox="1"/>
          <p:nvPr/>
        </p:nvSpPr>
        <p:spPr>
          <a:xfrm>
            <a:off x="1783080" y="3895344"/>
            <a:ext cx="8595360" cy="685800"/>
          </a:xfrm>
          <a:prstGeom prst="rect">
            <a:avLst/>
          </a:prstGeom>
          <a:noFill/>
          <a:ln/>
        </p:spPr>
        <p:txBody>
          <a:bodyPr wrap="square" lIns="0" tIns="0" rIns="0" bIns="0" rtlCol="0" anchor="ctr"/>
          <a:lstStyle/>
          <a:p>
            <a:pPr marL="0" indent="0">
              <a:lnSpc>
                <a:spcPct val="120000"/>
              </a:lnSpc>
              <a:buNone/>
            </a:pPr>
            <a:r>
              <a:rPr lang="en-US" sz="1350" dirty="0">
                <a:solidFill>
                  <a:srgbClr val="1A1F3C"/>
                </a:solidFill>
                <a:latin typeface="Calibri" pitchFamily="34" charset="0"/>
                <a:ea typeface="Calibri" pitchFamily="34" charset="-122"/>
                <a:cs typeface="Calibri" pitchFamily="34" charset="-120"/>
              </a:rPr>
              <a:t>Sparse analysis directly correlating mAP, FPS, latency, and power across multiple compression techniques applied to the same models and datasets.</a:t>
            </a:r>
            <a:endParaRPr lang="en-US" sz="1350" dirty="0"/>
          </a:p>
        </p:txBody>
      </p:sp>
      <p:sp>
        <p:nvSpPr>
          <p:cNvPr id="14" name="Shape 10"/>
          <p:cNvSpPr/>
          <p:nvPr/>
        </p:nvSpPr>
        <p:spPr>
          <a:xfrm>
            <a:off x="640080" y="4946904"/>
            <a:ext cx="10881360" cy="1234440"/>
          </a:xfrm>
          <a:prstGeom prst="roundRect">
            <a:avLst>
              <a:gd name="adj" fmla="val 6667"/>
            </a:avLst>
          </a:prstGeom>
          <a:solidFill>
            <a:srgbClr val="FFFFFF"/>
          </a:solidFill>
          <a:ln w="15240">
            <a:solidFill>
              <a:srgbClr val="F0D9A8"/>
            </a:solidFill>
            <a:prstDash val="solid"/>
          </a:ln>
          <a:effectLst>
            <a:outerShdw blurRad="76200" dist="25400" dir="5400000" algn="bl" rotWithShape="0">
              <a:srgbClr val="1E2761">
                <a:alpha val="7000"/>
              </a:srgbClr>
            </a:outerShdw>
          </a:effectLst>
        </p:spPr>
      </p:sp>
      <p:sp>
        <p:nvSpPr>
          <p:cNvPr id="15" name="Shape 11"/>
          <p:cNvSpPr/>
          <p:nvPr/>
        </p:nvSpPr>
        <p:spPr>
          <a:xfrm>
            <a:off x="896112" y="5244084"/>
            <a:ext cx="640080" cy="640080"/>
          </a:xfrm>
          <a:prstGeom prst="ellipse">
            <a:avLst/>
          </a:prstGeom>
          <a:solidFill>
            <a:srgbClr val="FDF0DA"/>
          </a:solidFill>
          <a:ln/>
        </p:spPr>
      </p:sp>
      <p:pic>
        <p:nvPicPr>
          <p:cNvPr id="16" name="Image 2" descr="/home/claude/deck/icons/warning_F2A93B.png"/>
          <p:cNvPicPr>
            <a:picLocks noChangeAspect="1"/>
          </p:cNvPicPr>
          <p:nvPr/>
        </p:nvPicPr>
        <p:blipFill>
          <a:blip r:embed="rId3"/>
          <a:stretch>
            <a:fillRect/>
          </a:stretch>
        </p:blipFill>
        <p:spPr>
          <a:xfrm>
            <a:off x="1042416" y="5390388"/>
            <a:ext cx="347472" cy="347472"/>
          </a:xfrm>
          <a:prstGeom prst="rect">
            <a:avLst/>
          </a:prstGeom>
        </p:spPr>
      </p:pic>
      <p:sp>
        <p:nvSpPr>
          <p:cNvPr id="17" name="Text 12"/>
          <p:cNvSpPr txBox="1"/>
          <p:nvPr/>
        </p:nvSpPr>
        <p:spPr>
          <a:xfrm>
            <a:off x="1783080" y="5084064"/>
            <a:ext cx="1828800" cy="320040"/>
          </a:xfrm>
          <a:prstGeom prst="rect">
            <a:avLst/>
          </a:prstGeom>
          <a:noFill/>
          <a:ln/>
        </p:spPr>
        <p:txBody>
          <a:bodyPr wrap="square" lIns="0" tIns="0" rIns="0" bIns="0" rtlCol="0" anchor="ctr"/>
          <a:lstStyle/>
          <a:p>
            <a:pPr marL="0" indent="0">
              <a:buNone/>
            </a:pPr>
            <a:r>
              <a:rPr lang="en-US" sz="1150" b="1" kern="0" spc="150" dirty="0">
                <a:solidFill>
                  <a:srgbClr val="F2A93B"/>
                </a:solidFill>
                <a:latin typeface="Calibri" pitchFamily="34" charset="0"/>
                <a:ea typeface="Calibri" pitchFamily="34" charset="-122"/>
                <a:cs typeface="Calibri" pitchFamily="34" charset="-120"/>
              </a:rPr>
              <a:t>Gap 03</a:t>
            </a:r>
            <a:endParaRPr lang="en-US" sz="1150" dirty="0"/>
          </a:p>
        </p:txBody>
      </p:sp>
      <p:sp>
        <p:nvSpPr>
          <p:cNvPr id="18" name="Text 13"/>
          <p:cNvSpPr txBox="1"/>
          <p:nvPr/>
        </p:nvSpPr>
        <p:spPr>
          <a:xfrm>
            <a:off x="1783080" y="5385816"/>
            <a:ext cx="8595360" cy="685800"/>
          </a:xfrm>
          <a:prstGeom prst="rect">
            <a:avLst/>
          </a:prstGeom>
          <a:noFill/>
          <a:ln/>
        </p:spPr>
        <p:txBody>
          <a:bodyPr wrap="square" lIns="0" tIns="0" rIns="0" bIns="0" rtlCol="0" anchor="ctr"/>
          <a:lstStyle/>
          <a:p>
            <a:pPr marL="0" indent="0">
              <a:lnSpc>
                <a:spcPct val="120000"/>
              </a:lnSpc>
              <a:buNone/>
            </a:pPr>
            <a:r>
              <a:rPr lang="en-US" sz="1350" dirty="0">
                <a:solidFill>
                  <a:srgbClr val="1A1F3C"/>
                </a:solidFill>
                <a:latin typeface="Calibri" pitchFamily="34" charset="0"/>
                <a:ea typeface="Calibri" pitchFamily="34" charset="-122"/>
                <a:cs typeface="Calibri" pitchFamily="34" charset="-120"/>
              </a:rPr>
              <a:t>Few studies tailor deployment recommendations specifically to UAV surveillance and robotics scenarios rather than generic detection benchmarks.</a:t>
            </a:r>
            <a:endParaRPr lang="en-US" sz="1350" dirty="0"/>
          </a:p>
        </p:txBody>
      </p:sp>
      <p:sp>
        <p:nvSpPr>
          <p:cNvPr id="19" name="Text 14"/>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05 · PROPOSED SYSTEM</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Target Models &amp; Dataset</a:t>
            </a:r>
            <a:endParaRPr lang="en-US" sz="2700" dirty="0"/>
          </a:p>
        </p:txBody>
      </p:sp>
      <p:sp>
        <p:nvSpPr>
          <p:cNvPr id="4" name="Shape 2"/>
          <p:cNvSpPr/>
          <p:nvPr/>
        </p:nvSpPr>
        <p:spPr>
          <a:xfrm>
            <a:off x="640080" y="1874520"/>
            <a:ext cx="5212080" cy="3977640"/>
          </a:xfrm>
          <a:prstGeom prst="roundRect">
            <a:avLst>
              <a:gd name="adj" fmla="val 2299"/>
            </a:avLst>
          </a:prstGeom>
          <a:solidFill>
            <a:srgbClr val="1E2761"/>
          </a:solidFill>
          <a:ln/>
          <a:effectLst>
            <a:outerShdw blurRad="101600" dist="38100" dir="5400000" algn="bl" rotWithShape="0">
              <a:srgbClr val="1E2761">
                <a:alpha val="15000"/>
              </a:srgbClr>
            </a:outerShdw>
          </a:effectLst>
        </p:spPr>
      </p:sp>
      <p:sp>
        <p:nvSpPr>
          <p:cNvPr id="5" name="Shape 3"/>
          <p:cNvSpPr/>
          <p:nvPr/>
        </p:nvSpPr>
        <p:spPr>
          <a:xfrm>
            <a:off x="914400" y="2148840"/>
            <a:ext cx="685800" cy="685800"/>
          </a:xfrm>
          <a:prstGeom prst="ellipse">
            <a:avLst/>
          </a:prstGeom>
          <a:solidFill>
            <a:srgbClr val="26317A"/>
          </a:solidFill>
          <a:ln/>
        </p:spPr>
      </p:sp>
      <p:pic>
        <p:nvPicPr>
          <p:cNvPr id="6" name="Image 0" descr="/home/claude/deck/icons/cube_F2A93B.png"/>
          <p:cNvPicPr>
            <a:picLocks noChangeAspect="1"/>
          </p:cNvPicPr>
          <p:nvPr/>
        </p:nvPicPr>
        <p:blipFill>
          <a:blip r:embed="rId3"/>
          <a:stretch>
            <a:fillRect/>
          </a:stretch>
        </p:blipFill>
        <p:spPr>
          <a:xfrm>
            <a:off x="1060704" y="2295144"/>
            <a:ext cx="393192" cy="393192"/>
          </a:xfrm>
          <a:prstGeom prst="rect">
            <a:avLst/>
          </a:prstGeom>
        </p:spPr>
      </p:pic>
      <p:sp>
        <p:nvSpPr>
          <p:cNvPr id="7" name="Text 4"/>
          <p:cNvSpPr txBox="1"/>
          <p:nvPr/>
        </p:nvSpPr>
        <p:spPr>
          <a:xfrm>
            <a:off x="1783080" y="2212848"/>
            <a:ext cx="384048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Candidate Models</a:t>
            </a:r>
            <a:endParaRPr lang="en-US" sz="1600" dirty="0"/>
          </a:p>
        </p:txBody>
      </p:sp>
      <p:sp>
        <p:nvSpPr>
          <p:cNvPr id="8" name="Text 5"/>
          <p:cNvSpPr txBox="1"/>
          <p:nvPr/>
        </p:nvSpPr>
        <p:spPr>
          <a:xfrm>
            <a:off x="914400" y="2971800"/>
            <a:ext cx="4617720" cy="2743200"/>
          </a:xfrm>
          <a:prstGeom prst="rect">
            <a:avLst/>
          </a:prstGeom>
          <a:noFill/>
          <a:ln/>
        </p:spPr>
        <p:txBody>
          <a:bodyPr wrap="square" lIns="0" tIns="0" rIns="0" bIns="0" rtlCol="0" anchor="ctr"/>
          <a:lstStyle/>
          <a:p>
            <a:pPr marL="0" indent="0">
              <a:lnSpc>
                <a:spcPct val="122000"/>
              </a:lnSpc>
              <a:buNone/>
            </a:pPr>
            <a:r>
              <a:rPr lang="en-US" sz="1300" b="1" u="sng" dirty="0">
                <a:solidFill>
                  <a:srgbClr val="F2A93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YOLO11n / YOLO11s</a:t>
            </a:r>
            <a:endParaRPr lang="en-US" sz="1300" dirty="0"/>
          </a:p>
          <a:p>
            <a:pPr marL="0" indent="0">
              <a:lnSpc>
                <a:spcPct val="122000"/>
              </a:lnSpc>
              <a:spcAft>
                <a:spcPts val="1400"/>
              </a:spcAft>
              <a:buNone/>
            </a:pPr>
            <a:r>
              <a:rPr lang="en-US" sz="1300" dirty="0">
                <a:solidFill>
                  <a:srgbClr val="CADCFC"/>
                </a:solidFill>
                <a:latin typeface="Calibri" pitchFamily="34" charset="0"/>
                <a:ea typeface="Calibri" pitchFamily="34" charset="-122"/>
                <a:cs typeface="Calibri" pitchFamily="34" charset="-120"/>
              </a:rPr>
              <a:t>General-purpose real-time detection, trained via Ultralytics scripts.</a:t>
            </a:r>
            <a:endParaRPr lang="en-US" sz="1300" dirty="0"/>
          </a:p>
          <a:p>
            <a:pPr marL="0" indent="0">
              <a:lnSpc>
                <a:spcPct val="122000"/>
              </a:lnSpc>
              <a:buNone/>
            </a:pPr>
            <a:r>
              <a:rPr lang="en-US" sz="1300" b="1" u="sng" dirty="0">
                <a:solidFill>
                  <a:srgbClr val="F2A93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YOLO26n / YOLO26s</a:t>
            </a:r>
            <a:endParaRPr lang="en-US" sz="1300" dirty="0"/>
          </a:p>
          <a:p>
            <a:pPr marL="0" indent="0">
              <a:lnSpc>
                <a:spcPct val="122000"/>
              </a:lnSpc>
              <a:spcAft>
                <a:spcPts val="1400"/>
              </a:spcAft>
              <a:buNone/>
            </a:pPr>
            <a:r>
              <a:rPr lang="en-US" sz="1300" dirty="0">
                <a:solidFill>
                  <a:srgbClr val="CADCFC"/>
                </a:solidFill>
                <a:latin typeface="Calibri" pitchFamily="34" charset="0"/>
                <a:ea typeface="Calibri" pitchFamily="34" charset="-122"/>
                <a:cs typeface="Calibri" pitchFamily="34" charset="-120"/>
              </a:rPr>
              <a:t>Purpose-built for hardware-constrained edge devices.</a:t>
            </a:r>
            <a:endParaRPr lang="en-US" sz="1300" dirty="0"/>
          </a:p>
          <a:p>
            <a:pPr marL="0" indent="0">
              <a:lnSpc>
                <a:spcPct val="122000"/>
              </a:lnSpc>
              <a:buNone/>
            </a:pPr>
            <a:r>
              <a:rPr lang="en-US" sz="1300" b="1" dirty="0">
                <a:solidFill>
                  <a:srgbClr val="F2A93B"/>
                </a:solidFill>
                <a:latin typeface="Calibri" pitchFamily="34" charset="0"/>
                <a:ea typeface="Calibri" pitchFamily="34" charset="-122"/>
                <a:cs typeface="Calibri" pitchFamily="34" charset="-120"/>
              </a:rPr>
              <a:t>Initialization</a:t>
            </a:r>
            <a:endParaRPr lang="en-US" sz="1300" dirty="0"/>
          </a:p>
          <a:p>
            <a:pPr marL="0" indent="0">
              <a:lnSpc>
                <a:spcPct val="122000"/>
              </a:lnSpc>
              <a:buNone/>
            </a:pPr>
            <a:r>
              <a:rPr lang="en-US" sz="1300" dirty="0">
                <a:solidFill>
                  <a:srgbClr val="CADCFC"/>
                </a:solidFill>
                <a:latin typeface="Calibri" pitchFamily="34" charset="0"/>
                <a:ea typeface="Calibri" pitchFamily="34" charset="-122"/>
                <a:cs typeface="Calibri" pitchFamily="34" charset="-120"/>
              </a:rPr>
              <a:t>COCO-pretrained weights, fine-tuned on VisDrone for faster convergence.</a:t>
            </a:r>
            <a:endParaRPr lang="en-US" sz="1300" dirty="0"/>
          </a:p>
        </p:txBody>
      </p:sp>
      <p:sp>
        <p:nvSpPr>
          <p:cNvPr id="9" name="Shape 6"/>
          <p:cNvSpPr/>
          <p:nvPr/>
        </p:nvSpPr>
        <p:spPr>
          <a:xfrm>
            <a:off x="6080760" y="1874520"/>
            <a:ext cx="5440680" cy="3977640"/>
          </a:xfrm>
          <a:prstGeom prst="roundRect">
            <a:avLst>
              <a:gd name="adj" fmla="val 2299"/>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0" name="Shape 7"/>
          <p:cNvSpPr/>
          <p:nvPr/>
        </p:nvSpPr>
        <p:spPr>
          <a:xfrm>
            <a:off x="6355080" y="2148840"/>
            <a:ext cx="685800" cy="685800"/>
          </a:xfrm>
          <a:prstGeom prst="ellipse">
            <a:avLst/>
          </a:prstGeom>
          <a:solidFill>
            <a:srgbClr val="EEF2FC"/>
          </a:solidFill>
          <a:ln/>
        </p:spPr>
      </p:sp>
      <p:pic>
        <p:nvPicPr>
          <p:cNvPr id="11" name="Image 1" descr="/home/claude/deck/icons/database_1E2761.png"/>
          <p:cNvPicPr>
            <a:picLocks noChangeAspect="1"/>
          </p:cNvPicPr>
          <p:nvPr/>
        </p:nvPicPr>
        <p:blipFill>
          <a:blip r:embed="rId6"/>
          <a:stretch>
            <a:fillRect/>
          </a:stretch>
        </p:blipFill>
        <p:spPr>
          <a:xfrm>
            <a:off x="6501384" y="2295144"/>
            <a:ext cx="393192" cy="393192"/>
          </a:xfrm>
          <a:prstGeom prst="rect">
            <a:avLst/>
          </a:prstGeom>
        </p:spPr>
      </p:pic>
      <p:sp>
        <p:nvSpPr>
          <p:cNvPr id="12" name="Text 8"/>
          <p:cNvSpPr txBox="1"/>
          <p:nvPr/>
        </p:nvSpPr>
        <p:spPr>
          <a:xfrm>
            <a:off x="7223760" y="2212848"/>
            <a:ext cx="4023360" cy="548640"/>
          </a:xfrm>
          <a:prstGeom prst="rect">
            <a:avLst/>
          </a:prstGeom>
          <a:noFill/>
          <a:ln/>
        </p:spPr>
        <p:txBody>
          <a:bodyPr wrap="square" lIns="0" tIns="0" rIns="0" bIns="0" rtlCol="0" anchor="ctr"/>
          <a:lstStyle/>
          <a:p>
            <a:pPr marL="0" indent="0">
              <a:buNone/>
            </a:pPr>
            <a:r>
              <a:rPr lang="en-US" sz="1600" b="1" u="sng" dirty="0">
                <a:solidFill>
                  <a:srgbClr val="1E2761"/>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VisDrone2019-DET</a:t>
            </a:r>
            <a:endParaRPr lang="en-US" sz="1600" dirty="0"/>
          </a:p>
        </p:txBody>
      </p:sp>
      <p:sp>
        <p:nvSpPr>
          <p:cNvPr id="13" name="Shape 9"/>
          <p:cNvSpPr/>
          <p:nvPr/>
        </p:nvSpPr>
        <p:spPr>
          <a:xfrm>
            <a:off x="6355080" y="3063240"/>
            <a:ext cx="2514600" cy="1234440"/>
          </a:xfrm>
          <a:prstGeom prst="roundRect">
            <a:avLst>
              <a:gd name="adj" fmla="val 5926"/>
            </a:avLst>
          </a:prstGeom>
          <a:solidFill>
            <a:srgbClr val="F6F8FC"/>
          </a:solidFill>
          <a:ln w="12700">
            <a:solidFill>
              <a:srgbClr val="DCE4F2"/>
            </a:solidFill>
            <a:prstDash val="solid"/>
          </a:ln>
        </p:spPr>
      </p:sp>
      <p:sp>
        <p:nvSpPr>
          <p:cNvPr id="14" name="Text 10"/>
          <p:cNvSpPr txBox="1"/>
          <p:nvPr/>
        </p:nvSpPr>
        <p:spPr>
          <a:xfrm>
            <a:off x="6537960" y="3200400"/>
            <a:ext cx="2148840" cy="502920"/>
          </a:xfrm>
          <a:prstGeom prst="rect">
            <a:avLst/>
          </a:prstGeom>
          <a:noFill/>
          <a:ln/>
        </p:spPr>
        <p:txBody>
          <a:bodyPr wrap="square" lIns="0" tIns="0" rIns="0" bIns="0" rtlCol="0" anchor="ctr"/>
          <a:lstStyle/>
          <a:p>
            <a:pPr marL="0" indent="0">
              <a:buNone/>
            </a:pPr>
            <a:r>
              <a:rPr lang="en-US" sz="2400" b="1" dirty="0">
                <a:solidFill>
                  <a:srgbClr val="0E7C7B"/>
                </a:solidFill>
                <a:latin typeface="Cambria" pitchFamily="34" charset="0"/>
                <a:ea typeface="Cambria" pitchFamily="34" charset="-122"/>
                <a:cs typeface="Cambria" pitchFamily="34" charset="-120"/>
              </a:rPr>
              <a:t>6,471</a:t>
            </a:r>
            <a:endParaRPr lang="en-US" sz="2400" dirty="0"/>
          </a:p>
        </p:txBody>
      </p:sp>
      <p:sp>
        <p:nvSpPr>
          <p:cNvPr id="15" name="Text 11"/>
          <p:cNvSpPr txBox="1"/>
          <p:nvPr/>
        </p:nvSpPr>
        <p:spPr>
          <a:xfrm>
            <a:off x="6537960" y="3776472"/>
            <a:ext cx="2148840" cy="411480"/>
          </a:xfrm>
          <a:prstGeom prst="rect">
            <a:avLst/>
          </a:prstGeom>
          <a:noFill/>
          <a:ln/>
        </p:spPr>
        <p:txBody>
          <a:bodyPr wrap="square" lIns="0" tIns="0" rIns="0" bIns="0" rtlCol="0" anchor="ctr"/>
          <a:lstStyle/>
          <a:p>
            <a:pPr marL="0" indent="0">
              <a:buNone/>
            </a:pPr>
            <a:r>
              <a:rPr lang="en-US" sz="1150" dirty="0">
                <a:solidFill>
                  <a:srgbClr val="5C6B8A"/>
                </a:solidFill>
                <a:latin typeface="Calibri" pitchFamily="34" charset="0"/>
                <a:ea typeface="Calibri" pitchFamily="34" charset="-122"/>
                <a:cs typeface="Calibri" pitchFamily="34" charset="-120"/>
              </a:rPr>
              <a:t>Train images</a:t>
            </a:r>
            <a:endParaRPr lang="en-US" sz="1150" dirty="0"/>
          </a:p>
        </p:txBody>
      </p:sp>
      <p:sp>
        <p:nvSpPr>
          <p:cNvPr id="16" name="Shape 12"/>
          <p:cNvSpPr/>
          <p:nvPr/>
        </p:nvSpPr>
        <p:spPr>
          <a:xfrm>
            <a:off x="9098280" y="3063240"/>
            <a:ext cx="2514600" cy="1234440"/>
          </a:xfrm>
          <a:prstGeom prst="roundRect">
            <a:avLst>
              <a:gd name="adj" fmla="val 5926"/>
            </a:avLst>
          </a:prstGeom>
          <a:solidFill>
            <a:srgbClr val="F6F8FC"/>
          </a:solidFill>
          <a:ln w="12700">
            <a:solidFill>
              <a:srgbClr val="DCE4F2"/>
            </a:solidFill>
            <a:prstDash val="solid"/>
          </a:ln>
        </p:spPr>
      </p:sp>
      <p:sp>
        <p:nvSpPr>
          <p:cNvPr id="17" name="Text 13"/>
          <p:cNvSpPr txBox="1"/>
          <p:nvPr/>
        </p:nvSpPr>
        <p:spPr>
          <a:xfrm>
            <a:off x="9281160" y="3200400"/>
            <a:ext cx="2148840" cy="502920"/>
          </a:xfrm>
          <a:prstGeom prst="rect">
            <a:avLst/>
          </a:prstGeom>
          <a:noFill/>
          <a:ln/>
        </p:spPr>
        <p:txBody>
          <a:bodyPr wrap="square" lIns="0" tIns="0" rIns="0" bIns="0" rtlCol="0" anchor="ctr"/>
          <a:lstStyle/>
          <a:p>
            <a:pPr marL="0" indent="0">
              <a:buNone/>
            </a:pPr>
            <a:r>
              <a:rPr lang="en-US" sz="2400" b="1" dirty="0">
                <a:solidFill>
                  <a:srgbClr val="0E7C7B"/>
                </a:solidFill>
                <a:latin typeface="Cambria" pitchFamily="34" charset="0"/>
                <a:ea typeface="Cambria" pitchFamily="34" charset="-122"/>
                <a:cs typeface="Cambria" pitchFamily="34" charset="-120"/>
              </a:rPr>
              <a:t>548</a:t>
            </a:r>
            <a:endParaRPr lang="en-US" sz="2400" dirty="0"/>
          </a:p>
        </p:txBody>
      </p:sp>
      <p:sp>
        <p:nvSpPr>
          <p:cNvPr id="18" name="Text 14"/>
          <p:cNvSpPr txBox="1"/>
          <p:nvPr/>
        </p:nvSpPr>
        <p:spPr>
          <a:xfrm>
            <a:off x="9281160" y="3776472"/>
            <a:ext cx="2148840" cy="411480"/>
          </a:xfrm>
          <a:prstGeom prst="rect">
            <a:avLst/>
          </a:prstGeom>
          <a:noFill/>
          <a:ln/>
        </p:spPr>
        <p:txBody>
          <a:bodyPr wrap="square" lIns="0" tIns="0" rIns="0" bIns="0" rtlCol="0" anchor="ctr"/>
          <a:lstStyle/>
          <a:p>
            <a:pPr marL="0" indent="0">
              <a:buNone/>
            </a:pPr>
            <a:r>
              <a:rPr lang="en-US" sz="1150" dirty="0">
                <a:solidFill>
                  <a:srgbClr val="5C6B8A"/>
                </a:solidFill>
                <a:latin typeface="Calibri" pitchFamily="34" charset="0"/>
                <a:ea typeface="Calibri" pitchFamily="34" charset="-122"/>
                <a:cs typeface="Calibri" pitchFamily="34" charset="-120"/>
              </a:rPr>
              <a:t>Validation images</a:t>
            </a:r>
            <a:endParaRPr lang="en-US" sz="1150" dirty="0"/>
          </a:p>
        </p:txBody>
      </p:sp>
      <p:sp>
        <p:nvSpPr>
          <p:cNvPr id="19" name="Shape 15"/>
          <p:cNvSpPr/>
          <p:nvPr/>
        </p:nvSpPr>
        <p:spPr>
          <a:xfrm>
            <a:off x="6355080" y="4526280"/>
            <a:ext cx="2514600" cy="1234440"/>
          </a:xfrm>
          <a:prstGeom prst="roundRect">
            <a:avLst>
              <a:gd name="adj" fmla="val 5926"/>
            </a:avLst>
          </a:prstGeom>
          <a:solidFill>
            <a:srgbClr val="F6F8FC"/>
          </a:solidFill>
          <a:ln w="12700">
            <a:solidFill>
              <a:srgbClr val="DCE4F2"/>
            </a:solidFill>
            <a:prstDash val="solid"/>
          </a:ln>
        </p:spPr>
      </p:sp>
      <p:sp>
        <p:nvSpPr>
          <p:cNvPr id="20" name="Text 16"/>
          <p:cNvSpPr txBox="1"/>
          <p:nvPr/>
        </p:nvSpPr>
        <p:spPr>
          <a:xfrm>
            <a:off x="6537960" y="4663440"/>
            <a:ext cx="2148840" cy="502920"/>
          </a:xfrm>
          <a:prstGeom prst="rect">
            <a:avLst/>
          </a:prstGeom>
          <a:noFill/>
          <a:ln/>
        </p:spPr>
        <p:txBody>
          <a:bodyPr wrap="square" lIns="0" tIns="0" rIns="0" bIns="0" rtlCol="0" anchor="ctr"/>
          <a:lstStyle/>
          <a:p>
            <a:pPr marL="0" indent="0">
              <a:buNone/>
            </a:pPr>
            <a:r>
              <a:rPr lang="en-US" sz="2400" b="1" dirty="0">
                <a:solidFill>
                  <a:srgbClr val="0E7C7B"/>
                </a:solidFill>
                <a:latin typeface="Cambria" pitchFamily="34" charset="0"/>
                <a:ea typeface="Cambria" pitchFamily="34" charset="-122"/>
                <a:cs typeface="Cambria" pitchFamily="34" charset="-120"/>
              </a:rPr>
              <a:t>1,610</a:t>
            </a:r>
            <a:endParaRPr lang="en-US" sz="2400" dirty="0"/>
          </a:p>
        </p:txBody>
      </p:sp>
      <p:sp>
        <p:nvSpPr>
          <p:cNvPr id="21" name="Text 17"/>
          <p:cNvSpPr txBox="1"/>
          <p:nvPr/>
        </p:nvSpPr>
        <p:spPr>
          <a:xfrm>
            <a:off x="6537960" y="5239512"/>
            <a:ext cx="2148840" cy="411480"/>
          </a:xfrm>
          <a:prstGeom prst="rect">
            <a:avLst/>
          </a:prstGeom>
          <a:noFill/>
          <a:ln/>
        </p:spPr>
        <p:txBody>
          <a:bodyPr wrap="square" lIns="0" tIns="0" rIns="0" bIns="0" rtlCol="0" anchor="ctr"/>
          <a:lstStyle/>
          <a:p>
            <a:pPr marL="0" indent="0">
              <a:buNone/>
            </a:pPr>
            <a:r>
              <a:rPr lang="en-US" sz="1150" dirty="0">
                <a:solidFill>
                  <a:srgbClr val="5C6B8A"/>
                </a:solidFill>
                <a:latin typeface="Calibri" pitchFamily="34" charset="0"/>
                <a:ea typeface="Calibri" pitchFamily="34" charset="-122"/>
                <a:cs typeface="Calibri" pitchFamily="34" charset="-120"/>
              </a:rPr>
              <a:t>Test images</a:t>
            </a:r>
            <a:endParaRPr lang="en-US" sz="1150" dirty="0"/>
          </a:p>
        </p:txBody>
      </p:sp>
      <p:sp>
        <p:nvSpPr>
          <p:cNvPr id="22" name="Shape 18"/>
          <p:cNvSpPr/>
          <p:nvPr/>
        </p:nvSpPr>
        <p:spPr>
          <a:xfrm>
            <a:off x="9098280" y="4526280"/>
            <a:ext cx="2514600" cy="1234440"/>
          </a:xfrm>
          <a:prstGeom prst="roundRect">
            <a:avLst>
              <a:gd name="adj" fmla="val 5926"/>
            </a:avLst>
          </a:prstGeom>
          <a:solidFill>
            <a:srgbClr val="F6F8FC"/>
          </a:solidFill>
          <a:ln w="12700">
            <a:solidFill>
              <a:srgbClr val="DCE4F2"/>
            </a:solidFill>
            <a:prstDash val="solid"/>
          </a:ln>
        </p:spPr>
      </p:sp>
      <p:sp>
        <p:nvSpPr>
          <p:cNvPr id="23" name="Text 19"/>
          <p:cNvSpPr txBox="1"/>
          <p:nvPr/>
        </p:nvSpPr>
        <p:spPr>
          <a:xfrm>
            <a:off x="9281160" y="4663440"/>
            <a:ext cx="2148840" cy="502920"/>
          </a:xfrm>
          <a:prstGeom prst="rect">
            <a:avLst/>
          </a:prstGeom>
          <a:noFill/>
          <a:ln/>
        </p:spPr>
        <p:txBody>
          <a:bodyPr wrap="square" lIns="0" tIns="0" rIns="0" bIns="0" rtlCol="0" anchor="ctr"/>
          <a:lstStyle/>
          <a:p>
            <a:pPr marL="0" indent="0">
              <a:buNone/>
            </a:pPr>
            <a:r>
              <a:rPr lang="en-US" sz="2400" b="1" dirty="0">
                <a:solidFill>
                  <a:srgbClr val="0E7C7B"/>
                </a:solidFill>
                <a:latin typeface="Cambria" pitchFamily="34" charset="0"/>
                <a:ea typeface="Cambria" pitchFamily="34" charset="-122"/>
                <a:cs typeface="Cambria" pitchFamily="34" charset="-120"/>
              </a:rPr>
              <a:t>10</a:t>
            </a:r>
            <a:endParaRPr lang="en-US" sz="2400" dirty="0"/>
          </a:p>
        </p:txBody>
      </p:sp>
      <p:sp>
        <p:nvSpPr>
          <p:cNvPr id="24" name="Text 20"/>
          <p:cNvSpPr txBox="1"/>
          <p:nvPr/>
        </p:nvSpPr>
        <p:spPr>
          <a:xfrm>
            <a:off x="9281160" y="5239512"/>
            <a:ext cx="2148840" cy="411480"/>
          </a:xfrm>
          <a:prstGeom prst="rect">
            <a:avLst/>
          </a:prstGeom>
          <a:noFill/>
          <a:ln/>
        </p:spPr>
        <p:txBody>
          <a:bodyPr wrap="square" lIns="0" tIns="0" rIns="0" bIns="0" rtlCol="0" anchor="ctr"/>
          <a:lstStyle/>
          <a:p>
            <a:pPr marL="0" indent="0">
              <a:buNone/>
            </a:pPr>
            <a:r>
              <a:rPr lang="en-US" sz="1150" dirty="0">
                <a:solidFill>
                  <a:srgbClr val="5C6B8A"/>
                </a:solidFill>
                <a:latin typeface="Calibri" pitchFamily="34" charset="0"/>
                <a:ea typeface="Calibri" pitchFamily="34" charset="-122"/>
                <a:cs typeface="Calibri" pitchFamily="34" charset="-120"/>
              </a:rPr>
              <a:t>Object categories</a:t>
            </a:r>
            <a:endParaRPr lang="en-US" sz="1150" dirty="0"/>
          </a:p>
        </p:txBody>
      </p:sp>
      <p:sp>
        <p:nvSpPr>
          <p:cNvPr id="25" name="Text 21"/>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05 · PROPOSED SYSTEM</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Four Heterogeneous Hardware Targets</a:t>
            </a:r>
            <a:endParaRPr lang="en-US" sz="2700" dirty="0"/>
          </a:p>
        </p:txBody>
      </p:sp>
      <p:sp>
        <p:nvSpPr>
          <p:cNvPr id="4" name="Shape 2"/>
          <p:cNvSpPr/>
          <p:nvPr/>
        </p:nvSpPr>
        <p:spPr>
          <a:xfrm>
            <a:off x="640080" y="187452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5" name="Shape 3"/>
          <p:cNvSpPr/>
          <p:nvPr/>
        </p:nvSpPr>
        <p:spPr>
          <a:xfrm>
            <a:off x="896112" y="2130552"/>
            <a:ext cx="777240" cy="777240"/>
          </a:xfrm>
          <a:prstGeom prst="ellipse">
            <a:avLst/>
          </a:prstGeom>
          <a:solidFill>
            <a:srgbClr val="E3F4F3"/>
          </a:solidFill>
          <a:ln/>
        </p:spPr>
      </p:sp>
      <p:pic>
        <p:nvPicPr>
          <p:cNvPr id="6" name="Image 0" descr="/home/claude/deck/icons/raspberrypi_0E7C7B.png"/>
          <p:cNvPicPr>
            <a:picLocks noChangeAspect="1"/>
          </p:cNvPicPr>
          <p:nvPr/>
        </p:nvPicPr>
        <p:blipFill>
          <a:blip r:embed="rId3"/>
          <a:stretch>
            <a:fillRect/>
          </a:stretch>
        </p:blipFill>
        <p:spPr>
          <a:xfrm>
            <a:off x="1060704" y="2295144"/>
            <a:ext cx="448056" cy="448056"/>
          </a:xfrm>
          <a:prstGeom prst="rect">
            <a:avLst/>
          </a:prstGeom>
        </p:spPr>
      </p:pic>
      <p:sp>
        <p:nvSpPr>
          <p:cNvPr id="7" name="Text 4"/>
          <p:cNvSpPr txBox="1"/>
          <p:nvPr/>
        </p:nvSpPr>
        <p:spPr>
          <a:xfrm>
            <a:off x="1828800" y="2075688"/>
            <a:ext cx="3840480" cy="365760"/>
          </a:xfrm>
          <a:prstGeom prst="rect">
            <a:avLst/>
          </a:prstGeom>
          <a:noFill/>
          <a:ln/>
        </p:spPr>
        <p:txBody>
          <a:bodyPr wrap="square" lIns="0" tIns="0" rIns="0" bIns="0" rtlCol="0" anchor="ctr"/>
          <a:lstStyle/>
          <a:p>
            <a:pPr marL="0" indent="0">
              <a:buNone/>
            </a:pPr>
            <a:r>
              <a:rPr lang="en-US" sz="1500" b="1" u="sng" dirty="0">
                <a:solidFill>
                  <a:srgbClr val="1E2761"/>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Raspberry Pi 5</a:t>
            </a:r>
            <a:endParaRPr lang="en-US" sz="1500" dirty="0"/>
          </a:p>
        </p:txBody>
      </p:sp>
      <p:sp>
        <p:nvSpPr>
          <p:cNvPr id="8" name="Text 5"/>
          <p:cNvSpPr txBox="1"/>
          <p:nvPr/>
        </p:nvSpPr>
        <p:spPr>
          <a:xfrm>
            <a:off x="1828800" y="2441448"/>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ARM SBC — central deployment focus. Low-cost UAV ground stations &amp; edge nodes; runs full YOLO11/YOLO26.</a:t>
            </a:r>
            <a:endParaRPr lang="en-US" sz="1150" dirty="0"/>
          </a:p>
        </p:txBody>
      </p:sp>
      <p:sp>
        <p:nvSpPr>
          <p:cNvPr id="9" name="Shape 6"/>
          <p:cNvSpPr/>
          <p:nvPr/>
        </p:nvSpPr>
        <p:spPr>
          <a:xfrm>
            <a:off x="6263640" y="187452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0" name="Shape 7"/>
          <p:cNvSpPr/>
          <p:nvPr/>
        </p:nvSpPr>
        <p:spPr>
          <a:xfrm>
            <a:off x="6519672" y="2130552"/>
            <a:ext cx="777240" cy="777240"/>
          </a:xfrm>
          <a:prstGeom prst="ellipse">
            <a:avLst/>
          </a:prstGeom>
          <a:solidFill>
            <a:srgbClr val="EEF2FC"/>
          </a:solidFill>
          <a:ln/>
        </p:spPr>
      </p:sp>
      <p:pic>
        <p:nvPicPr>
          <p:cNvPr id="11" name="Image 1" descr="/home/claude/deck/icons/mobile_1E2761.png"/>
          <p:cNvPicPr>
            <a:picLocks noChangeAspect="1"/>
          </p:cNvPicPr>
          <p:nvPr/>
        </p:nvPicPr>
        <p:blipFill>
          <a:blip r:embed="rId5"/>
          <a:stretch>
            <a:fillRect/>
          </a:stretch>
        </p:blipFill>
        <p:spPr>
          <a:xfrm>
            <a:off x="6684264" y="2295144"/>
            <a:ext cx="448056" cy="448056"/>
          </a:xfrm>
          <a:prstGeom prst="rect">
            <a:avLst/>
          </a:prstGeom>
        </p:spPr>
      </p:pic>
      <p:sp>
        <p:nvSpPr>
          <p:cNvPr id="12" name="Text 8"/>
          <p:cNvSpPr txBox="1"/>
          <p:nvPr/>
        </p:nvSpPr>
        <p:spPr>
          <a:xfrm>
            <a:off x="7452360" y="2075688"/>
            <a:ext cx="384048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Samsung Galaxy M35</a:t>
            </a:r>
            <a:endParaRPr lang="en-US" sz="1500" dirty="0"/>
          </a:p>
        </p:txBody>
      </p:sp>
      <p:sp>
        <p:nvSpPr>
          <p:cNvPr id="13" name="Text 9"/>
          <p:cNvSpPr txBox="1"/>
          <p:nvPr/>
        </p:nvSpPr>
        <p:spPr>
          <a:xfrm>
            <a:off x="7452360" y="2441448"/>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Exynos 1380, Mali-G68 GPU, 6-8GB RAM. On-device inference via TFLite / NCNN / ONNX Runtime.</a:t>
            </a:r>
            <a:endParaRPr lang="en-US" sz="1150" dirty="0"/>
          </a:p>
        </p:txBody>
      </p:sp>
      <p:sp>
        <p:nvSpPr>
          <p:cNvPr id="14" name="Shape 10"/>
          <p:cNvSpPr/>
          <p:nvPr/>
        </p:nvSpPr>
        <p:spPr>
          <a:xfrm>
            <a:off x="640080" y="397764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5" name="Shape 11"/>
          <p:cNvSpPr/>
          <p:nvPr/>
        </p:nvSpPr>
        <p:spPr>
          <a:xfrm>
            <a:off x="896112" y="4233672"/>
            <a:ext cx="777240" cy="777240"/>
          </a:xfrm>
          <a:prstGeom prst="ellipse">
            <a:avLst/>
          </a:prstGeom>
          <a:solidFill>
            <a:srgbClr val="E3F4F3"/>
          </a:solidFill>
          <a:ln/>
        </p:spPr>
      </p:sp>
      <p:pic>
        <p:nvPicPr>
          <p:cNvPr id="16" name="Image 2" descr="/home/claude/deck/icons/laptop_0E7C7B.png"/>
          <p:cNvPicPr>
            <a:picLocks noChangeAspect="1"/>
          </p:cNvPicPr>
          <p:nvPr/>
        </p:nvPicPr>
        <p:blipFill>
          <a:blip r:embed="rId6"/>
          <a:stretch>
            <a:fillRect/>
          </a:stretch>
        </p:blipFill>
        <p:spPr>
          <a:xfrm>
            <a:off x="1060704" y="4398264"/>
            <a:ext cx="448056" cy="448056"/>
          </a:xfrm>
          <a:prstGeom prst="rect">
            <a:avLst/>
          </a:prstGeom>
        </p:spPr>
      </p:pic>
      <p:sp>
        <p:nvSpPr>
          <p:cNvPr id="17" name="Text 12"/>
          <p:cNvSpPr txBox="1"/>
          <p:nvPr/>
        </p:nvSpPr>
        <p:spPr>
          <a:xfrm>
            <a:off x="1828800" y="4178808"/>
            <a:ext cx="384048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Laptop CPU (x86)</a:t>
            </a:r>
            <a:endParaRPr lang="en-US" sz="1500" dirty="0"/>
          </a:p>
        </p:txBody>
      </p:sp>
      <p:sp>
        <p:nvSpPr>
          <p:cNvPr id="18" name="Text 13"/>
          <p:cNvSpPr txBox="1"/>
          <p:nvPr/>
        </p:nvSpPr>
        <p:spPr>
          <a:xfrm>
            <a:off x="1828800" y="4544568"/>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Commodity CPU-only baseline representing desktop-like edge deployment, no dedicated GPU.</a:t>
            </a:r>
            <a:endParaRPr lang="en-US" sz="1150" dirty="0"/>
          </a:p>
        </p:txBody>
      </p:sp>
      <p:sp>
        <p:nvSpPr>
          <p:cNvPr id="19" name="Shape 14"/>
          <p:cNvSpPr/>
          <p:nvPr/>
        </p:nvSpPr>
        <p:spPr>
          <a:xfrm>
            <a:off x="6263640" y="397764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0" name="Shape 15"/>
          <p:cNvSpPr/>
          <p:nvPr/>
        </p:nvSpPr>
        <p:spPr>
          <a:xfrm>
            <a:off x="6519672" y="4233672"/>
            <a:ext cx="777240" cy="777240"/>
          </a:xfrm>
          <a:prstGeom prst="ellipse">
            <a:avLst/>
          </a:prstGeom>
          <a:solidFill>
            <a:srgbClr val="EEF2FC"/>
          </a:solidFill>
          <a:ln/>
        </p:spPr>
      </p:sp>
      <p:pic>
        <p:nvPicPr>
          <p:cNvPr id="21" name="Image 3" descr="/home/claude/deck/icons/jetson_1E2761.png"/>
          <p:cNvPicPr>
            <a:picLocks noChangeAspect="1"/>
          </p:cNvPicPr>
          <p:nvPr/>
        </p:nvPicPr>
        <p:blipFill>
          <a:blip r:embed="rId7"/>
          <a:stretch>
            <a:fillRect/>
          </a:stretch>
        </p:blipFill>
        <p:spPr>
          <a:xfrm>
            <a:off x="6684264" y="4398264"/>
            <a:ext cx="448056" cy="448056"/>
          </a:xfrm>
          <a:prstGeom prst="rect">
            <a:avLst/>
          </a:prstGeom>
        </p:spPr>
      </p:pic>
      <p:sp>
        <p:nvSpPr>
          <p:cNvPr id="22" name="Text 16"/>
          <p:cNvSpPr txBox="1"/>
          <p:nvPr/>
        </p:nvSpPr>
        <p:spPr>
          <a:xfrm>
            <a:off x="7452360" y="4178808"/>
            <a:ext cx="3840480" cy="365760"/>
          </a:xfrm>
          <a:prstGeom prst="rect">
            <a:avLst/>
          </a:prstGeom>
          <a:noFill/>
          <a:ln/>
        </p:spPr>
        <p:txBody>
          <a:bodyPr wrap="square" lIns="0" tIns="0" rIns="0" bIns="0" rtlCol="0" anchor="ctr"/>
          <a:lstStyle/>
          <a:p>
            <a:pPr marL="0" indent="0">
              <a:buNone/>
            </a:pPr>
            <a:r>
              <a:rPr lang="en-US" sz="1500" b="1" u="sng" dirty="0">
                <a:solidFill>
                  <a:srgbClr val="1E2761"/>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Jetson Nano</a:t>
            </a:r>
            <a:endParaRPr lang="en-US" sz="1500" dirty="0"/>
          </a:p>
        </p:txBody>
      </p:sp>
      <p:sp>
        <p:nvSpPr>
          <p:cNvPr id="23" name="Text 17"/>
          <p:cNvSpPr txBox="1"/>
          <p:nvPr/>
        </p:nvSpPr>
        <p:spPr>
          <a:xfrm>
            <a:off x="7452360" y="4544568"/>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NVIDIA SBC with a 128-core Maxwell GPU. Runs compressed YOLO variants via TensorRT for genuine on-device GPU acceleration.</a:t>
            </a:r>
            <a:r>
              <a:rPr lang="en-US" sz="1050" b="1" u="sng" dirty="0">
                <a:solidFill>
                  <a:srgbClr val="0E7C7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 [16]</a:t>
            </a:r>
            <a:endParaRPr lang="en-US" sz="1150" dirty="0"/>
          </a:p>
        </p:txBody>
      </p:sp>
      <p:sp>
        <p:nvSpPr>
          <p:cNvPr id="24" name="Text 18"/>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06 · METHODOLOGY</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Training Phase</a:t>
            </a:r>
            <a:endParaRPr lang="en-US" sz="2700" dirty="0"/>
          </a:p>
        </p:txBody>
      </p:sp>
      <p:sp>
        <p:nvSpPr>
          <p:cNvPr id="4" name="Shape 2"/>
          <p:cNvSpPr/>
          <p:nvPr/>
        </p:nvSpPr>
        <p:spPr>
          <a:xfrm>
            <a:off x="10424160" y="640080"/>
            <a:ext cx="868680" cy="868680"/>
          </a:xfrm>
          <a:prstGeom prst="ellipse">
            <a:avLst/>
          </a:prstGeom>
          <a:solidFill>
            <a:srgbClr val="CADCFC"/>
          </a:solidFill>
          <a:ln/>
        </p:spPr>
      </p:sp>
      <p:pic>
        <p:nvPicPr>
          <p:cNvPr id="5" name="Image 0" descr="/home/claude/deck/icons/listol_1E2761.png"/>
          <p:cNvPicPr>
            <a:picLocks noChangeAspect="1"/>
          </p:cNvPicPr>
          <p:nvPr/>
        </p:nvPicPr>
        <p:blipFill>
          <a:blip r:embed="rId3"/>
          <a:stretch>
            <a:fillRect/>
          </a:stretch>
        </p:blipFill>
        <p:spPr>
          <a:xfrm>
            <a:off x="10607040" y="822960"/>
            <a:ext cx="502920" cy="502920"/>
          </a:xfrm>
          <a:prstGeom prst="rect">
            <a:avLst/>
          </a:prstGeom>
        </p:spPr>
      </p:pic>
      <p:sp>
        <p:nvSpPr>
          <p:cNvPr id="6" name="Shape 3"/>
          <p:cNvSpPr/>
          <p:nvPr/>
        </p:nvSpPr>
        <p:spPr>
          <a:xfrm>
            <a:off x="640080" y="2011680"/>
            <a:ext cx="2606040" cy="2743200"/>
          </a:xfrm>
          <a:prstGeom prst="roundRect">
            <a:avLst>
              <a:gd name="adj" fmla="val 3158"/>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7" name="Shape 4"/>
          <p:cNvSpPr/>
          <p:nvPr/>
        </p:nvSpPr>
        <p:spPr>
          <a:xfrm>
            <a:off x="868680" y="2240280"/>
            <a:ext cx="502920" cy="502920"/>
          </a:xfrm>
          <a:prstGeom prst="ellipse">
            <a:avLst/>
          </a:prstGeom>
          <a:solidFill>
            <a:srgbClr val="1E2761"/>
          </a:solidFill>
          <a:ln/>
        </p:spPr>
      </p:sp>
      <p:sp>
        <p:nvSpPr>
          <p:cNvPr id="8" name="Text 5"/>
          <p:cNvSpPr txBox="1"/>
          <p:nvPr/>
        </p:nvSpPr>
        <p:spPr>
          <a:xfrm>
            <a:off x="868680" y="2240280"/>
            <a:ext cx="502920" cy="50292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868680" y="2926080"/>
            <a:ext cx="214884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Select variants</a:t>
            </a:r>
            <a:endParaRPr lang="en-US" sz="1400" dirty="0"/>
          </a:p>
        </p:txBody>
      </p:sp>
      <p:sp>
        <p:nvSpPr>
          <p:cNvPr id="10" name="Text 7"/>
          <p:cNvSpPr txBox="1"/>
          <p:nvPr/>
        </p:nvSpPr>
        <p:spPr>
          <a:xfrm>
            <a:off x="868680" y="3364992"/>
            <a:ext cx="2148840" cy="1234440"/>
          </a:xfrm>
          <a:prstGeom prst="rect">
            <a:avLst/>
          </a:prstGeom>
          <a:noFill/>
          <a:ln/>
        </p:spPr>
        <p:txBody>
          <a:bodyPr wrap="square" lIns="0" tIns="0" rIns="0" bIns="0" rtlCol="0" anchor="ctr"/>
          <a:lstStyle/>
          <a:p>
            <a:pPr marL="0" indent="0">
              <a:lnSpc>
                <a:spcPct val="122000"/>
              </a:lnSpc>
              <a:buNone/>
            </a:pPr>
            <a:r>
              <a:rPr lang="en-US" sz="1150" dirty="0">
                <a:solidFill>
                  <a:srgbClr val="1A1F3C"/>
                </a:solidFill>
                <a:latin typeface="Calibri" pitchFamily="34" charset="0"/>
                <a:ea typeface="Calibri" pitchFamily="34" charset="-122"/>
                <a:cs typeface="Calibri" pitchFamily="34" charset="-120"/>
              </a:rPr>
              <a:t>Choose YOLO11n/s and YOLO26n/s as candidates using Ultralytics training scripts.</a:t>
            </a:r>
            <a:endParaRPr lang="en-US" sz="1150" dirty="0"/>
          </a:p>
        </p:txBody>
      </p:sp>
      <p:sp>
        <p:nvSpPr>
          <p:cNvPr id="11" name="Text 8"/>
          <p:cNvSpPr txBox="1"/>
          <p:nvPr/>
        </p:nvSpPr>
        <p:spPr>
          <a:xfrm>
            <a:off x="3246120" y="3108960"/>
            <a:ext cx="182880" cy="54864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3429000" y="2011680"/>
            <a:ext cx="2606040" cy="2743200"/>
          </a:xfrm>
          <a:prstGeom prst="roundRect">
            <a:avLst>
              <a:gd name="adj" fmla="val 3158"/>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3" name="Shape 10"/>
          <p:cNvSpPr/>
          <p:nvPr/>
        </p:nvSpPr>
        <p:spPr>
          <a:xfrm>
            <a:off x="3657600" y="2240280"/>
            <a:ext cx="502920" cy="502920"/>
          </a:xfrm>
          <a:prstGeom prst="ellipse">
            <a:avLst/>
          </a:prstGeom>
          <a:solidFill>
            <a:srgbClr val="1E2761"/>
          </a:solidFill>
          <a:ln/>
        </p:spPr>
      </p:sp>
      <p:sp>
        <p:nvSpPr>
          <p:cNvPr id="14" name="Text 11"/>
          <p:cNvSpPr txBox="1"/>
          <p:nvPr/>
        </p:nvSpPr>
        <p:spPr>
          <a:xfrm>
            <a:off x="3657600" y="2240280"/>
            <a:ext cx="502920" cy="50292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2</a:t>
            </a:r>
            <a:endParaRPr lang="en-US" sz="1800" dirty="0"/>
          </a:p>
        </p:txBody>
      </p:sp>
      <p:sp>
        <p:nvSpPr>
          <p:cNvPr id="15" name="Text 12"/>
          <p:cNvSpPr txBox="1"/>
          <p:nvPr/>
        </p:nvSpPr>
        <p:spPr>
          <a:xfrm>
            <a:off x="3657600" y="2926080"/>
            <a:ext cx="214884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Prepare data</a:t>
            </a:r>
            <a:endParaRPr lang="en-US" sz="1400" dirty="0"/>
          </a:p>
        </p:txBody>
      </p:sp>
      <p:sp>
        <p:nvSpPr>
          <p:cNvPr id="16" name="Text 13"/>
          <p:cNvSpPr txBox="1"/>
          <p:nvPr/>
        </p:nvSpPr>
        <p:spPr>
          <a:xfrm>
            <a:off x="3657600" y="3364992"/>
            <a:ext cx="2148840" cy="1234440"/>
          </a:xfrm>
          <a:prstGeom prst="rect">
            <a:avLst/>
          </a:prstGeom>
          <a:noFill/>
          <a:ln/>
        </p:spPr>
        <p:txBody>
          <a:bodyPr wrap="square" lIns="0" tIns="0" rIns="0" bIns="0" rtlCol="0" anchor="ctr"/>
          <a:lstStyle/>
          <a:p>
            <a:pPr marL="0" indent="0">
              <a:lnSpc>
                <a:spcPct val="122000"/>
              </a:lnSpc>
              <a:buNone/>
            </a:pPr>
            <a:r>
              <a:rPr lang="en-US" sz="1150" dirty="0">
                <a:solidFill>
                  <a:srgbClr val="1A1F3C"/>
                </a:solidFill>
                <a:latin typeface="Calibri" pitchFamily="34" charset="0"/>
                <a:ea typeface="Calibri" pitchFamily="34" charset="-122"/>
                <a:cs typeface="Calibri" pitchFamily="34" charset="-120"/>
              </a:rPr>
              <a:t>Convert VisDrone annotations to YOLO format; apply mosaic, random crop, and perspective augmentation.</a:t>
            </a:r>
            <a:endParaRPr lang="en-US" sz="1150" dirty="0"/>
          </a:p>
        </p:txBody>
      </p:sp>
      <p:sp>
        <p:nvSpPr>
          <p:cNvPr id="17" name="Text 14"/>
          <p:cNvSpPr txBox="1"/>
          <p:nvPr/>
        </p:nvSpPr>
        <p:spPr>
          <a:xfrm>
            <a:off x="6035040" y="3108960"/>
            <a:ext cx="182880" cy="54864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6217920" y="2011680"/>
            <a:ext cx="2606040" cy="2743200"/>
          </a:xfrm>
          <a:prstGeom prst="roundRect">
            <a:avLst>
              <a:gd name="adj" fmla="val 3158"/>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9" name="Shape 16"/>
          <p:cNvSpPr/>
          <p:nvPr/>
        </p:nvSpPr>
        <p:spPr>
          <a:xfrm>
            <a:off x="6446520" y="2240280"/>
            <a:ext cx="502920" cy="502920"/>
          </a:xfrm>
          <a:prstGeom prst="ellipse">
            <a:avLst/>
          </a:prstGeom>
          <a:solidFill>
            <a:srgbClr val="1E2761"/>
          </a:solidFill>
          <a:ln/>
        </p:spPr>
      </p:sp>
      <p:sp>
        <p:nvSpPr>
          <p:cNvPr id="20" name="Text 17"/>
          <p:cNvSpPr txBox="1"/>
          <p:nvPr/>
        </p:nvSpPr>
        <p:spPr>
          <a:xfrm>
            <a:off x="6446520" y="2240280"/>
            <a:ext cx="502920" cy="50292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3</a:t>
            </a:r>
            <a:endParaRPr lang="en-US" sz="1800" dirty="0"/>
          </a:p>
        </p:txBody>
      </p:sp>
      <p:sp>
        <p:nvSpPr>
          <p:cNvPr id="21" name="Text 18"/>
          <p:cNvSpPr txBox="1"/>
          <p:nvPr/>
        </p:nvSpPr>
        <p:spPr>
          <a:xfrm>
            <a:off x="6446520" y="2926080"/>
            <a:ext cx="214884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Fine-tune</a:t>
            </a:r>
            <a:endParaRPr lang="en-US" sz="1400" dirty="0"/>
          </a:p>
        </p:txBody>
      </p:sp>
      <p:sp>
        <p:nvSpPr>
          <p:cNvPr id="22" name="Text 19"/>
          <p:cNvSpPr txBox="1"/>
          <p:nvPr/>
        </p:nvSpPr>
        <p:spPr>
          <a:xfrm>
            <a:off x="6446520" y="3364992"/>
            <a:ext cx="2148840" cy="1234440"/>
          </a:xfrm>
          <a:prstGeom prst="rect">
            <a:avLst/>
          </a:prstGeom>
          <a:noFill/>
          <a:ln/>
        </p:spPr>
        <p:txBody>
          <a:bodyPr wrap="square" lIns="0" tIns="0" rIns="0" bIns="0" rtlCol="0" anchor="ctr"/>
          <a:lstStyle/>
          <a:p>
            <a:pPr marL="0" indent="0">
              <a:lnSpc>
                <a:spcPct val="122000"/>
              </a:lnSpc>
              <a:buNone/>
            </a:pPr>
            <a:r>
              <a:rPr lang="en-US" sz="1150" dirty="0">
                <a:solidFill>
                  <a:srgbClr val="1A1F3C"/>
                </a:solidFill>
                <a:latin typeface="Calibri" pitchFamily="34" charset="0"/>
                <a:ea typeface="Calibri" pitchFamily="34" charset="-122"/>
                <a:cs typeface="Calibri" pitchFamily="34" charset="-120"/>
              </a:rPr>
              <a:t>Initialize from COCO-pretrained weights and fine-tune on VisDrone for faster, UAV-specific convergence.</a:t>
            </a:r>
            <a:endParaRPr lang="en-US" sz="1150" dirty="0"/>
          </a:p>
        </p:txBody>
      </p:sp>
      <p:sp>
        <p:nvSpPr>
          <p:cNvPr id="23" name="Text 20"/>
          <p:cNvSpPr txBox="1"/>
          <p:nvPr/>
        </p:nvSpPr>
        <p:spPr>
          <a:xfrm>
            <a:off x="8823960" y="3108960"/>
            <a:ext cx="182880" cy="548640"/>
          </a:xfrm>
          <a:prstGeom prst="rect">
            <a:avLst/>
          </a:prstGeom>
          <a:noFill/>
          <a:ln/>
        </p:spPr>
        <p:txBody>
          <a:bodyPr wrap="square" lIns="0" tIns="0" rIns="0" bIns="0" rtlCol="0" anchor="ctr"/>
          <a:lstStyle/>
          <a:p>
            <a:pPr marL="0" indent="0" algn="ctr">
              <a:buNone/>
            </a:pPr>
            <a:r>
              <a:rPr lang="en-US" sz="1800" b="1" dirty="0">
                <a:solidFill>
                  <a:srgbClr val="F2A93B"/>
                </a:solidFill>
                <a:latin typeface="Calibri" pitchFamily="34" charset="0"/>
                <a:ea typeface="Calibri" pitchFamily="34" charset="-122"/>
                <a:cs typeface="Calibri" pitchFamily="34" charset="-120"/>
              </a:rPr>
              <a:t>→</a:t>
            </a:r>
            <a:endParaRPr lang="en-US" sz="1800" dirty="0"/>
          </a:p>
        </p:txBody>
      </p:sp>
      <p:sp>
        <p:nvSpPr>
          <p:cNvPr id="24" name="Shape 21"/>
          <p:cNvSpPr/>
          <p:nvPr/>
        </p:nvSpPr>
        <p:spPr>
          <a:xfrm>
            <a:off x="9006840" y="2011680"/>
            <a:ext cx="2606040" cy="2743200"/>
          </a:xfrm>
          <a:prstGeom prst="roundRect">
            <a:avLst>
              <a:gd name="adj" fmla="val 3158"/>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5" name="Shape 22"/>
          <p:cNvSpPr/>
          <p:nvPr/>
        </p:nvSpPr>
        <p:spPr>
          <a:xfrm>
            <a:off x="9235440" y="2240280"/>
            <a:ext cx="502920" cy="502920"/>
          </a:xfrm>
          <a:prstGeom prst="ellipse">
            <a:avLst/>
          </a:prstGeom>
          <a:solidFill>
            <a:srgbClr val="1E2761"/>
          </a:solidFill>
          <a:ln/>
        </p:spPr>
      </p:sp>
      <p:sp>
        <p:nvSpPr>
          <p:cNvPr id="26" name="Text 23"/>
          <p:cNvSpPr txBox="1"/>
          <p:nvPr/>
        </p:nvSpPr>
        <p:spPr>
          <a:xfrm>
            <a:off x="9235440" y="2240280"/>
            <a:ext cx="502920" cy="50292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4</a:t>
            </a:r>
            <a:endParaRPr lang="en-US" sz="1800" dirty="0"/>
          </a:p>
        </p:txBody>
      </p:sp>
      <p:sp>
        <p:nvSpPr>
          <p:cNvPr id="27" name="Text 24"/>
          <p:cNvSpPr txBox="1"/>
          <p:nvPr/>
        </p:nvSpPr>
        <p:spPr>
          <a:xfrm>
            <a:off x="9235440" y="2926080"/>
            <a:ext cx="214884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Baseline eval</a:t>
            </a:r>
            <a:endParaRPr lang="en-US" sz="1400" dirty="0"/>
          </a:p>
        </p:txBody>
      </p:sp>
      <p:sp>
        <p:nvSpPr>
          <p:cNvPr id="28" name="Text 25"/>
          <p:cNvSpPr txBox="1"/>
          <p:nvPr/>
        </p:nvSpPr>
        <p:spPr>
          <a:xfrm>
            <a:off x="9235440" y="3364992"/>
            <a:ext cx="2148840" cy="1234440"/>
          </a:xfrm>
          <a:prstGeom prst="rect">
            <a:avLst/>
          </a:prstGeom>
          <a:noFill/>
          <a:ln/>
        </p:spPr>
        <p:txBody>
          <a:bodyPr wrap="square" lIns="0" tIns="0" rIns="0" bIns="0" rtlCol="0" anchor="ctr"/>
          <a:lstStyle/>
          <a:p>
            <a:pPr marL="0" indent="0">
              <a:lnSpc>
                <a:spcPct val="122000"/>
              </a:lnSpc>
              <a:buNone/>
            </a:pPr>
            <a:r>
              <a:rPr lang="en-US" sz="1150" dirty="0">
                <a:solidFill>
                  <a:srgbClr val="1A1F3C"/>
                </a:solidFill>
                <a:latin typeface="Calibri" pitchFamily="34" charset="0"/>
                <a:ea typeface="Calibri" pitchFamily="34" charset="-122"/>
                <a:cs typeface="Calibri" pitchFamily="34" charset="-120"/>
              </a:rPr>
              <a:t>Evaluate on VisDrone validation/test splits to obtain baseline mAP@0.5 and mAP@0.5-0.95.</a:t>
            </a:r>
            <a:endParaRPr lang="en-US" sz="1150" dirty="0"/>
          </a:p>
        </p:txBody>
      </p:sp>
      <p:sp>
        <p:nvSpPr>
          <p:cNvPr id="29" name="Text 26"/>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06 · METHODOLOGY</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Three-Stage Optimization Pipeline</a:t>
            </a:r>
            <a:endParaRPr lang="en-US" sz="2700" dirty="0"/>
          </a:p>
        </p:txBody>
      </p:sp>
      <p:sp>
        <p:nvSpPr>
          <p:cNvPr id="4" name="Shape 2"/>
          <p:cNvSpPr/>
          <p:nvPr/>
        </p:nvSpPr>
        <p:spPr>
          <a:xfrm>
            <a:off x="640080" y="1874520"/>
            <a:ext cx="3520440" cy="365760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5" name="Shape 3"/>
          <p:cNvSpPr/>
          <p:nvPr/>
        </p:nvSpPr>
        <p:spPr>
          <a:xfrm>
            <a:off x="896112" y="2148840"/>
            <a:ext cx="685800" cy="685800"/>
          </a:xfrm>
          <a:prstGeom prst="ellipse">
            <a:avLst/>
          </a:prstGeom>
          <a:solidFill>
            <a:srgbClr val="EEF2FC"/>
          </a:solidFill>
          <a:ln/>
        </p:spPr>
      </p:sp>
      <p:pic>
        <p:nvPicPr>
          <p:cNvPr id="6" name="Image 0" descr="/home/claude/deck/icons/compress_F2A93B.png"/>
          <p:cNvPicPr>
            <a:picLocks noChangeAspect="1"/>
          </p:cNvPicPr>
          <p:nvPr/>
        </p:nvPicPr>
        <p:blipFill>
          <a:blip r:embed="rId3"/>
          <a:stretch>
            <a:fillRect/>
          </a:stretch>
        </p:blipFill>
        <p:spPr>
          <a:xfrm>
            <a:off x="1042416" y="2295144"/>
            <a:ext cx="393192" cy="393192"/>
          </a:xfrm>
          <a:prstGeom prst="rect">
            <a:avLst/>
          </a:prstGeom>
        </p:spPr>
      </p:pic>
      <p:sp>
        <p:nvSpPr>
          <p:cNvPr id="7" name="Text 4"/>
          <p:cNvSpPr txBox="1"/>
          <p:nvPr/>
        </p:nvSpPr>
        <p:spPr>
          <a:xfrm>
            <a:off x="1737360" y="2148840"/>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1E2761"/>
                </a:solidFill>
                <a:latin typeface="Calibri" pitchFamily="34" charset="0"/>
                <a:ea typeface="Calibri" pitchFamily="34" charset="-122"/>
                <a:cs typeface="Calibri" pitchFamily="34" charset="-120"/>
              </a:rPr>
              <a:t>1 · Quantization</a:t>
            </a:r>
            <a:endParaRPr lang="en-US" sz="1400" dirty="0"/>
          </a:p>
        </p:txBody>
      </p:sp>
      <p:sp>
        <p:nvSpPr>
          <p:cNvPr id="8" name="Text 5"/>
          <p:cNvSpPr txBox="1"/>
          <p:nvPr/>
        </p:nvSpPr>
        <p:spPr>
          <a:xfrm>
            <a:off x="896112" y="3108960"/>
            <a:ext cx="3008376" cy="2240280"/>
          </a:xfrm>
          <a:prstGeom prst="rect">
            <a:avLst/>
          </a:prstGeom>
          <a:noFill/>
          <a:ln/>
        </p:spPr>
        <p:txBody>
          <a:bodyPr wrap="square" lIns="0" tIns="0" rIns="0" bIns="0" rtlCol="0" anchor="ctr"/>
          <a:lstStyle/>
          <a:p>
            <a:pPr marL="0" indent="0">
              <a:lnSpc>
                <a:spcPct val="125000"/>
              </a:lnSpc>
              <a:buNone/>
            </a:pPr>
            <a:r>
              <a:rPr lang="en-US" sz="1200" dirty="0">
                <a:solidFill>
                  <a:srgbClr val="1A1F3C"/>
                </a:solidFill>
                <a:latin typeface="Calibri" pitchFamily="34" charset="0"/>
                <a:ea typeface="Calibri" pitchFamily="34" charset="-122"/>
                <a:cs typeface="Calibri" pitchFamily="34" charset="-120"/>
              </a:rPr>
              <a:t>FP32 → FP16 → INT8 via TensorRT (x86/Jetson) and TFLite/NCNN (Pi 5, Galaxy M35). INT8 calibrated on VisDrone images; QAT explored where beneficial.</a:t>
            </a:r>
            <a:endParaRPr lang="en-US" sz="1200" dirty="0"/>
          </a:p>
        </p:txBody>
      </p:sp>
      <p:sp>
        <p:nvSpPr>
          <p:cNvPr id="9" name="Text 6"/>
          <p:cNvSpPr txBox="1"/>
          <p:nvPr/>
        </p:nvSpPr>
        <p:spPr>
          <a:xfrm>
            <a:off x="4160520" y="3429000"/>
            <a:ext cx="228600" cy="54864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4389120" y="1874520"/>
            <a:ext cx="3520440" cy="365760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1" name="Shape 8"/>
          <p:cNvSpPr/>
          <p:nvPr/>
        </p:nvSpPr>
        <p:spPr>
          <a:xfrm>
            <a:off x="4645152" y="2148840"/>
            <a:ext cx="685800" cy="685800"/>
          </a:xfrm>
          <a:prstGeom prst="ellipse">
            <a:avLst/>
          </a:prstGeom>
          <a:solidFill>
            <a:srgbClr val="EEF2FC"/>
          </a:solidFill>
          <a:ln/>
        </p:spPr>
      </p:sp>
      <p:pic>
        <p:nvPicPr>
          <p:cNvPr id="12" name="Image 1" descr="/home/claude/deck/icons/cut_0E7C7B.png"/>
          <p:cNvPicPr>
            <a:picLocks noChangeAspect="1"/>
          </p:cNvPicPr>
          <p:nvPr/>
        </p:nvPicPr>
        <p:blipFill>
          <a:blip r:embed="rId4"/>
          <a:stretch>
            <a:fillRect/>
          </a:stretch>
        </p:blipFill>
        <p:spPr>
          <a:xfrm>
            <a:off x="4791456" y="2295144"/>
            <a:ext cx="393192" cy="393192"/>
          </a:xfrm>
          <a:prstGeom prst="rect">
            <a:avLst/>
          </a:prstGeom>
        </p:spPr>
      </p:pic>
      <p:sp>
        <p:nvSpPr>
          <p:cNvPr id="13" name="Text 9"/>
          <p:cNvSpPr txBox="1"/>
          <p:nvPr/>
        </p:nvSpPr>
        <p:spPr>
          <a:xfrm>
            <a:off x="5486400" y="2148840"/>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1E2761"/>
                </a:solidFill>
                <a:latin typeface="Calibri" pitchFamily="34" charset="0"/>
                <a:ea typeface="Calibri" pitchFamily="34" charset="-122"/>
                <a:cs typeface="Calibri" pitchFamily="34" charset="-120"/>
              </a:rPr>
              <a:t>2 · Structured Pruning</a:t>
            </a:r>
            <a:endParaRPr lang="en-US" sz="1400" dirty="0"/>
          </a:p>
        </p:txBody>
      </p:sp>
      <p:sp>
        <p:nvSpPr>
          <p:cNvPr id="14" name="Text 10"/>
          <p:cNvSpPr txBox="1"/>
          <p:nvPr/>
        </p:nvSpPr>
        <p:spPr>
          <a:xfrm>
            <a:off x="4645152" y="3108960"/>
            <a:ext cx="3008376" cy="2240280"/>
          </a:xfrm>
          <a:prstGeom prst="rect">
            <a:avLst/>
          </a:prstGeom>
          <a:noFill/>
          <a:ln/>
        </p:spPr>
        <p:txBody>
          <a:bodyPr wrap="square" lIns="0" tIns="0" rIns="0" bIns="0" rtlCol="0" anchor="ctr"/>
          <a:lstStyle/>
          <a:p>
            <a:pPr marL="0" indent="0">
              <a:lnSpc>
                <a:spcPct val="125000"/>
              </a:lnSpc>
              <a:buNone/>
            </a:pPr>
            <a:r>
              <a:rPr lang="en-US" sz="1200" dirty="0">
                <a:solidFill>
                  <a:srgbClr val="1A1F3C"/>
                </a:solidFill>
                <a:latin typeface="Calibri" pitchFamily="34" charset="0"/>
                <a:ea typeface="Calibri" pitchFamily="34" charset="-122"/>
                <a:cs typeface="Calibri" pitchFamily="34" charset="-120"/>
              </a:rPr>
              <a:t>Channel-level pruning of backbone/neck via magnitude- or gradient-based importance, targeting 30-50% parameter reduction, then fine-tuned to recover accuracy.</a:t>
            </a:r>
            <a:endParaRPr lang="en-US" sz="1200" dirty="0"/>
          </a:p>
        </p:txBody>
      </p:sp>
      <p:sp>
        <p:nvSpPr>
          <p:cNvPr id="15" name="Text 11"/>
          <p:cNvSpPr txBox="1"/>
          <p:nvPr/>
        </p:nvSpPr>
        <p:spPr>
          <a:xfrm>
            <a:off x="7909560" y="3429000"/>
            <a:ext cx="228600" cy="54864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8138160" y="1874520"/>
            <a:ext cx="3520440" cy="3657600"/>
          </a:xfrm>
          <a:prstGeom prst="roundRect">
            <a:avLst>
              <a:gd name="adj" fmla="val 2597"/>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7" name="Shape 13"/>
          <p:cNvSpPr/>
          <p:nvPr/>
        </p:nvSpPr>
        <p:spPr>
          <a:xfrm>
            <a:off x="8394192" y="2148840"/>
            <a:ext cx="685800" cy="685800"/>
          </a:xfrm>
          <a:prstGeom prst="ellipse">
            <a:avLst/>
          </a:prstGeom>
          <a:solidFill>
            <a:srgbClr val="EEF2FC"/>
          </a:solidFill>
          <a:ln/>
        </p:spPr>
      </p:sp>
      <p:pic>
        <p:nvPicPr>
          <p:cNvPr id="18" name="Image 2" descr="/home/claude/deck/icons/gradcap_1E2761.png"/>
          <p:cNvPicPr>
            <a:picLocks noChangeAspect="1"/>
          </p:cNvPicPr>
          <p:nvPr/>
        </p:nvPicPr>
        <p:blipFill>
          <a:blip r:embed="rId5"/>
          <a:stretch>
            <a:fillRect/>
          </a:stretch>
        </p:blipFill>
        <p:spPr>
          <a:xfrm>
            <a:off x="8540496" y="2295144"/>
            <a:ext cx="393192" cy="393192"/>
          </a:xfrm>
          <a:prstGeom prst="rect">
            <a:avLst/>
          </a:prstGeom>
        </p:spPr>
      </p:pic>
      <p:sp>
        <p:nvSpPr>
          <p:cNvPr id="19" name="Text 14"/>
          <p:cNvSpPr txBox="1"/>
          <p:nvPr/>
        </p:nvSpPr>
        <p:spPr>
          <a:xfrm>
            <a:off x="9235440" y="2148840"/>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1E2761"/>
                </a:solidFill>
                <a:latin typeface="Calibri" pitchFamily="34" charset="0"/>
                <a:ea typeface="Calibri" pitchFamily="34" charset="-122"/>
                <a:cs typeface="Calibri" pitchFamily="34" charset="-120"/>
              </a:rPr>
              <a:t>3 · Knowledge Distillation</a:t>
            </a:r>
            <a:endParaRPr lang="en-US" sz="1400" dirty="0"/>
          </a:p>
        </p:txBody>
      </p:sp>
      <p:sp>
        <p:nvSpPr>
          <p:cNvPr id="20" name="Text 15"/>
          <p:cNvSpPr txBox="1"/>
          <p:nvPr/>
        </p:nvSpPr>
        <p:spPr>
          <a:xfrm>
            <a:off x="8394192" y="3108960"/>
            <a:ext cx="3008376" cy="2240280"/>
          </a:xfrm>
          <a:prstGeom prst="rect">
            <a:avLst/>
          </a:prstGeom>
          <a:noFill/>
          <a:ln/>
        </p:spPr>
        <p:txBody>
          <a:bodyPr wrap="square" lIns="0" tIns="0" rIns="0" bIns="0" rtlCol="0" anchor="ctr"/>
          <a:lstStyle/>
          <a:p>
            <a:pPr marL="0" indent="0">
              <a:lnSpc>
                <a:spcPct val="125000"/>
              </a:lnSpc>
              <a:buNone/>
            </a:pPr>
            <a:r>
              <a:rPr lang="en-US" sz="1200" dirty="0">
                <a:solidFill>
                  <a:srgbClr val="1A1F3C"/>
                </a:solidFill>
                <a:latin typeface="Calibri" pitchFamily="34" charset="0"/>
                <a:ea typeface="Calibri" pitchFamily="34" charset="-122"/>
                <a:cs typeface="Calibri" pitchFamily="34" charset="-120"/>
              </a:rPr>
              <a:t>Larger teachers (YOLO26m / YOLO11m) guide compact students (YOLO26n / YOLO11n) via output- and feature-level distillation losses on VisDrone.</a:t>
            </a:r>
            <a:endParaRPr lang="en-US" sz="1200" dirty="0"/>
          </a:p>
        </p:txBody>
      </p:sp>
      <p:sp>
        <p:nvSpPr>
          <p:cNvPr id="21" name="Text 16"/>
          <p:cNvSpPr txBox="1"/>
          <p:nvPr/>
        </p:nvSpPr>
        <p:spPr>
          <a:xfrm>
            <a:off x="640080" y="5760720"/>
            <a:ext cx="10881360" cy="457200"/>
          </a:xfrm>
          <a:prstGeom prst="rect">
            <a:avLst/>
          </a:prstGeom>
          <a:noFill/>
          <a:ln/>
        </p:spPr>
        <p:txBody>
          <a:bodyPr wrap="square" lIns="0" tIns="0" rIns="0" bIns="0" rtlCol="0" anchor="ctr"/>
          <a:lstStyle/>
          <a:p>
            <a:pPr marL="0" indent="0">
              <a:buNone/>
            </a:pPr>
            <a:r>
              <a:rPr lang="en-US" sz="1200" i="1" dirty="0">
                <a:solidFill>
                  <a:srgbClr val="5C6B8A"/>
                </a:solidFill>
                <a:latin typeface="Calibri" pitchFamily="34" charset="0"/>
                <a:ea typeface="Calibri" pitchFamily="34" charset="-122"/>
                <a:cs typeface="Calibri" pitchFamily="34" charset="-120"/>
              </a:rPr>
              <a:t>Combined pruned + quantized students are further trained with distillation to balance mAP against resource usage.</a:t>
            </a:r>
            <a:endParaRPr lang="en-US" sz="1200" dirty="0"/>
          </a:p>
        </p:txBody>
      </p:sp>
      <p:sp>
        <p:nvSpPr>
          <p:cNvPr id="22" name="Text 17"/>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06 · METHODOLOGY</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Deployment Runtimes per Platform</a:t>
            </a:r>
            <a:endParaRPr lang="en-US" sz="2700" dirty="0"/>
          </a:p>
        </p:txBody>
      </p:sp>
      <p:sp>
        <p:nvSpPr>
          <p:cNvPr id="4" name="Shape 2"/>
          <p:cNvSpPr/>
          <p:nvPr/>
        </p:nvSpPr>
        <p:spPr>
          <a:xfrm>
            <a:off x="640080" y="1874520"/>
            <a:ext cx="10881360" cy="502920"/>
          </a:xfrm>
          <a:prstGeom prst="roundRect">
            <a:avLst>
              <a:gd name="adj" fmla="val 10909"/>
            </a:avLst>
          </a:prstGeom>
          <a:solidFill>
            <a:srgbClr val="1E2761"/>
          </a:solidFill>
          <a:ln/>
        </p:spPr>
      </p:sp>
      <p:sp>
        <p:nvSpPr>
          <p:cNvPr id="5" name="Text 3"/>
          <p:cNvSpPr txBox="1"/>
          <p:nvPr/>
        </p:nvSpPr>
        <p:spPr>
          <a:xfrm>
            <a:off x="822960" y="1874520"/>
            <a:ext cx="246888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Platform</a:t>
            </a:r>
            <a:endParaRPr lang="en-US" sz="1250" dirty="0"/>
          </a:p>
        </p:txBody>
      </p:sp>
      <p:sp>
        <p:nvSpPr>
          <p:cNvPr id="6" name="Text 4"/>
          <p:cNvSpPr txBox="1"/>
          <p:nvPr/>
        </p:nvSpPr>
        <p:spPr>
          <a:xfrm>
            <a:off x="3566160" y="1874520"/>
            <a:ext cx="301752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Runtime / Format</a:t>
            </a:r>
            <a:endParaRPr lang="en-US" sz="1250" dirty="0"/>
          </a:p>
        </p:txBody>
      </p:sp>
      <p:sp>
        <p:nvSpPr>
          <p:cNvPr id="7" name="Text 5"/>
          <p:cNvSpPr txBox="1"/>
          <p:nvPr/>
        </p:nvSpPr>
        <p:spPr>
          <a:xfrm>
            <a:off x="6858000" y="1874520"/>
            <a:ext cx="457200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Notes</a:t>
            </a:r>
            <a:endParaRPr lang="en-US" sz="1250" dirty="0"/>
          </a:p>
        </p:txBody>
      </p:sp>
      <p:sp>
        <p:nvSpPr>
          <p:cNvPr id="8" name="Shape 6"/>
          <p:cNvSpPr/>
          <p:nvPr/>
        </p:nvSpPr>
        <p:spPr>
          <a:xfrm>
            <a:off x="640080" y="2377440"/>
            <a:ext cx="10881360" cy="777240"/>
          </a:xfrm>
          <a:prstGeom prst="rect">
            <a:avLst/>
          </a:prstGeom>
          <a:solidFill>
            <a:srgbClr val="FFFFFF"/>
          </a:solidFill>
          <a:ln w="6350">
            <a:solidFill>
              <a:srgbClr val="DCE4F2"/>
            </a:solidFill>
            <a:prstDash val="solid"/>
          </a:ln>
        </p:spPr>
      </p:sp>
      <p:sp>
        <p:nvSpPr>
          <p:cNvPr id="9" name="Text 7"/>
          <p:cNvSpPr txBox="1"/>
          <p:nvPr/>
        </p:nvSpPr>
        <p:spPr>
          <a:xfrm>
            <a:off x="822960" y="2377440"/>
            <a:ext cx="2468880" cy="777240"/>
          </a:xfrm>
          <a:prstGeom prst="rect">
            <a:avLst/>
          </a:prstGeom>
          <a:noFill/>
          <a:ln/>
        </p:spPr>
        <p:txBody>
          <a:bodyPr wrap="square" lIns="0" tIns="0" rIns="0" bIns="0" rtlCol="0" anchor="ctr"/>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Raspberry Pi 5</a:t>
            </a:r>
            <a:endParaRPr lang="en-US" sz="1300" dirty="0"/>
          </a:p>
        </p:txBody>
      </p:sp>
      <p:sp>
        <p:nvSpPr>
          <p:cNvPr id="10" name="Text 8"/>
          <p:cNvSpPr txBox="1"/>
          <p:nvPr/>
        </p:nvSpPr>
        <p:spPr>
          <a:xfrm>
            <a:off x="3566160" y="2377440"/>
            <a:ext cx="301752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ONNX Runtime, NCNN, TFLite</a:t>
            </a:r>
            <a:endParaRPr lang="en-US" sz="1150" dirty="0"/>
          </a:p>
        </p:txBody>
      </p:sp>
      <p:sp>
        <p:nvSpPr>
          <p:cNvPr id="11" name="Text 9"/>
          <p:cNvSpPr txBox="1"/>
          <p:nvPr/>
        </p:nvSpPr>
        <p:spPr>
          <a:xfrm>
            <a:off x="6858000" y="2377440"/>
            <a:ext cx="457200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NCNN yields the lowest inference times of all supported formats.</a:t>
            </a:r>
            <a:endParaRPr lang="en-US" sz="1150" dirty="0"/>
          </a:p>
        </p:txBody>
      </p:sp>
      <p:sp>
        <p:nvSpPr>
          <p:cNvPr id="12" name="Shape 10"/>
          <p:cNvSpPr/>
          <p:nvPr/>
        </p:nvSpPr>
        <p:spPr>
          <a:xfrm>
            <a:off x="640080" y="3154680"/>
            <a:ext cx="10881360" cy="777240"/>
          </a:xfrm>
          <a:prstGeom prst="rect">
            <a:avLst/>
          </a:prstGeom>
          <a:solidFill>
            <a:srgbClr val="EEF2FC"/>
          </a:solidFill>
          <a:ln w="6350">
            <a:solidFill>
              <a:srgbClr val="DCE4F2"/>
            </a:solidFill>
            <a:prstDash val="solid"/>
          </a:ln>
        </p:spPr>
      </p:sp>
      <p:sp>
        <p:nvSpPr>
          <p:cNvPr id="13" name="Text 11"/>
          <p:cNvSpPr txBox="1"/>
          <p:nvPr/>
        </p:nvSpPr>
        <p:spPr>
          <a:xfrm>
            <a:off x="822960" y="3154680"/>
            <a:ext cx="2468880" cy="777240"/>
          </a:xfrm>
          <a:prstGeom prst="rect">
            <a:avLst/>
          </a:prstGeom>
          <a:noFill/>
          <a:ln/>
        </p:spPr>
        <p:txBody>
          <a:bodyPr wrap="square" lIns="0" tIns="0" rIns="0" bIns="0" rtlCol="0" anchor="ctr"/>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Samsung Galaxy M35</a:t>
            </a:r>
            <a:endParaRPr lang="en-US" sz="1300" dirty="0"/>
          </a:p>
        </p:txBody>
      </p:sp>
      <p:sp>
        <p:nvSpPr>
          <p:cNvPr id="14" name="Text 12"/>
          <p:cNvSpPr txBox="1"/>
          <p:nvPr/>
        </p:nvSpPr>
        <p:spPr>
          <a:xfrm>
            <a:off x="3566160" y="3154680"/>
            <a:ext cx="301752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TFLite / NCNN (Android app)</a:t>
            </a:r>
            <a:endParaRPr lang="en-US" sz="1150" dirty="0"/>
          </a:p>
        </p:txBody>
      </p:sp>
      <p:sp>
        <p:nvSpPr>
          <p:cNvPr id="15" name="Text 13"/>
          <p:cNvSpPr txBox="1"/>
          <p:nvPr/>
        </p:nvSpPr>
        <p:spPr>
          <a:xfrm>
            <a:off x="6858000" y="3154680"/>
            <a:ext cx="457200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GPU / NNAPI accelerators used where available for on-device inference.</a:t>
            </a:r>
            <a:endParaRPr lang="en-US" sz="1150" dirty="0"/>
          </a:p>
        </p:txBody>
      </p:sp>
      <p:sp>
        <p:nvSpPr>
          <p:cNvPr id="16" name="Shape 14"/>
          <p:cNvSpPr/>
          <p:nvPr/>
        </p:nvSpPr>
        <p:spPr>
          <a:xfrm>
            <a:off x="640080" y="3931920"/>
            <a:ext cx="10881360" cy="777240"/>
          </a:xfrm>
          <a:prstGeom prst="rect">
            <a:avLst/>
          </a:prstGeom>
          <a:solidFill>
            <a:srgbClr val="FFFFFF"/>
          </a:solidFill>
          <a:ln w="6350">
            <a:solidFill>
              <a:srgbClr val="DCE4F2"/>
            </a:solidFill>
            <a:prstDash val="solid"/>
          </a:ln>
        </p:spPr>
      </p:sp>
      <p:sp>
        <p:nvSpPr>
          <p:cNvPr id="17" name="Text 15"/>
          <p:cNvSpPr txBox="1"/>
          <p:nvPr/>
        </p:nvSpPr>
        <p:spPr>
          <a:xfrm>
            <a:off x="822960" y="3931920"/>
            <a:ext cx="2468880" cy="777240"/>
          </a:xfrm>
          <a:prstGeom prst="rect">
            <a:avLst/>
          </a:prstGeom>
          <a:noFill/>
          <a:ln/>
        </p:spPr>
        <p:txBody>
          <a:bodyPr wrap="square" lIns="0" tIns="0" rIns="0" bIns="0" rtlCol="0" anchor="ctr"/>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Laptop CPU</a:t>
            </a:r>
            <a:endParaRPr lang="en-US" sz="1300" dirty="0"/>
          </a:p>
        </p:txBody>
      </p:sp>
      <p:sp>
        <p:nvSpPr>
          <p:cNvPr id="18" name="Text 16"/>
          <p:cNvSpPr txBox="1"/>
          <p:nvPr/>
        </p:nvSpPr>
        <p:spPr>
          <a:xfrm>
            <a:off x="3566160" y="3931920"/>
            <a:ext cx="301752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ONNX Runtime / PyTorch</a:t>
            </a:r>
            <a:endParaRPr lang="en-US" sz="1150" dirty="0"/>
          </a:p>
        </p:txBody>
      </p:sp>
      <p:sp>
        <p:nvSpPr>
          <p:cNvPr id="19" name="Text 17"/>
          <p:cNvSpPr txBox="1"/>
          <p:nvPr/>
        </p:nvSpPr>
        <p:spPr>
          <a:xfrm>
            <a:off x="6858000" y="3931920"/>
            <a:ext cx="457200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CPU-only baseline for comparing edge vs. desktop-class performance.</a:t>
            </a:r>
            <a:endParaRPr lang="en-US" sz="1150" dirty="0"/>
          </a:p>
        </p:txBody>
      </p:sp>
      <p:sp>
        <p:nvSpPr>
          <p:cNvPr id="20" name="Shape 18"/>
          <p:cNvSpPr/>
          <p:nvPr/>
        </p:nvSpPr>
        <p:spPr>
          <a:xfrm>
            <a:off x="640080" y="4709160"/>
            <a:ext cx="10881360" cy="777240"/>
          </a:xfrm>
          <a:prstGeom prst="rect">
            <a:avLst/>
          </a:prstGeom>
          <a:solidFill>
            <a:srgbClr val="EEF2FC"/>
          </a:solidFill>
          <a:ln w="6350">
            <a:solidFill>
              <a:srgbClr val="DCE4F2"/>
            </a:solidFill>
            <a:prstDash val="solid"/>
          </a:ln>
        </p:spPr>
      </p:sp>
      <p:sp>
        <p:nvSpPr>
          <p:cNvPr id="21" name="Text 19"/>
          <p:cNvSpPr txBox="1"/>
          <p:nvPr/>
        </p:nvSpPr>
        <p:spPr>
          <a:xfrm>
            <a:off x="822960" y="4709160"/>
            <a:ext cx="2468880" cy="777240"/>
          </a:xfrm>
          <a:prstGeom prst="rect">
            <a:avLst/>
          </a:prstGeom>
          <a:noFill/>
          <a:ln/>
        </p:spPr>
        <p:txBody>
          <a:bodyPr wrap="square" lIns="0" tIns="0" rIns="0" bIns="0" rtlCol="0" anchor="ctr"/>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Jetson Nano</a:t>
            </a:r>
            <a:endParaRPr lang="en-US" sz="1300" dirty="0"/>
          </a:p>
        </p:txBody>
      </p:sp>
      <p:sp>
        <p:nvSpPr>
          <p:cNvPr id="22" name="Text 20"/>
          <p:cNvSpPr txBox="1"/>
          <p:nvPr/>
        </p:nvSpPr>
        <p:spPr>
          <a:xfrm>
            <a:off x="3566160" y="4709160"/>
            <a:ext cx="301752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TensorRT (via ONNX export)</a:t>
            </a:r>
            <a:endParaRPr lang="en-US" sz="1150" dirty="0"/>
          </a:p>
        </p:txBody>
      </p:sp>
      <p:sp>
        <p:nvSpPr>
          <p:cNvPr id="23" name="Text 21"/>
          <p:cNvSpPr txBox="1"/>
          <p:nvPr/>
        </p:nvSpPr>
        <p:spPr>
          <a:xfrm>
            <a:off x="6858000" y="4709160"/>
            <a:ext cx="4572000" cy="777240"/>
          </a:xfrm>
          <a:prstGeom prst="rect">
            <a:avLst/>
          </a:prstGeom>
          <a:noFill/>
          <a:ln/>
        </p:spPr>
        <p:txBody>
          <a:bodyPr wrap="square" lIns="0" tIns="0" rIns="0" bIns="0" rtlCol="0" anchor="ctr"/>
          <a:lstStyle/>
          <a:p>
            <a:pPr marL="0" indent="0">
              <a:lnSpc>
                <a:spcPct val="115000"/>
              </a:lnSpc>
              <a:buNone/>
            </a:pPr>
            <a:r>
              <a:rPr lang="en-US" sz="1150" dirty="0">
                <a:solidFill>
                  <a:srgbClr val="1A1F3C"/>
                </a:solidFill>
                <a:latin typeface="Calibri" pitchFamily="34" charset="0"/>
                <a:ea typeface="Calibri" pitchFamily="34" charset="-122"/>
                <a:cs typeface="Calibri" pitchFamily="34" charset="-120"/>
              </a:rPr>
              <a:t>Full YOLO11/YOLO26 run at genuine real-time speeds; FP16/INT8 engines maximize the 128-core Maxwell GPU.</a:t>
            </a:r>
            <a:endParaRPr lang="en-US" sz="1150" dirty="0"/>
          </a:p>
        </p:txBody>
      </p:sp>
      <p:sp>
        <p:nvSpPr>
          <p:cNvPr id="24" name="Text 2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07 · EVALUATION</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Evaluation Framework</a:t>
            </a:r>
            <a:endParaRPr lang="en-US" sz="2700" dirty="0"/>
          </a:p>
        </p:txBody>
      </p:sp>
      <p:sp>
        <p:nvSpPr>
          <p:cNvPr id="4" name="Shape 2"/>
          <p:cNvSpPr/>
          <p:nvPr/>
        </p:nvSpPr>
        <p:spPr>
          <a:xfrm>
            <a:off x="640080" y="1874520"/>
            <a:ext cx="3520440" cy="2834640"/>
          </a:xfrm>
          <a:prstGeom prst="roundRect">
            <a:avLst>
              <a:gd name="adj" fmla="val 3226"/>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5" name="Shape 3"/>
          <p:cNvSpPr/>
          <p:nvPr/>
        </p:nvSpPr>
        <p:spPr>
          <a:xfrm>
            <a:off x="868680" y="2103120"/>
            <a:ext cx="640080" cy="640080"/>
          </a:xfrm>
          <a:prstGeom prst="ellipse">
            <a:avLst/>
          </a:prstGeom>
          <a:solidFill>
            <a:srgbClr val="EEF2FC"/>
          </a:solidFill>
          <a:ln/>
        </p:spPr>
      </p:sp>
      <p:pic>
        <p:nvPicPr>
          <p:cNvPr id="6" name="Image 0" descr="/home/claude/deck/icons/bullseye_F2A93B.png"/>
          <p:cNvPicPr>
            <a:picLocks noChangeAspect="1"/>
          </p:cNvPicPr>
          <p:nvPr/>
        </p:nvPicPr>
        <p:blipFill>
          <a:blip r:embed="rId3"/>
          <a:stretch>
            <a:fillRect/>
          </a:stretch>
        </p:blipFill>
        <p:spPr>
          <a:xfrm>
            <a:off x="1005840" y="2240280"/>
            <a:ext cx="365760" cy="365760"/>
          </a:xfrm>
          <a:prstGeom prst="rect">
            <a:avLst/>
          </a:prstGeom>
        </p:spPr>
      </p:pic>
      <p:sp>
        <p:nvSpPr>
          <p:cNvPr id="7" name="Text 4"/>
          <p:cNvSpPr txBox="1"/>
          <p:nvPr/>
        </p:nvSpPr>
        <p:spPr>
          <a:xfrm>
            <a:off x="868680" y="2880360"/>
            <a:ext cx="306324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Detection Metrics</a:t>
            </a:r>
            <a:endParaRPr lang="en-US" sz="1400" dirty="0"/>
          </a:p>
        </p:txBody>
      </p:sp>
      <p:sp>
        <p:nvSpPr>
          <p:cNvPr id="8" name="Text 5"/>
          <p:cNvSpPr txBox="1"/>
          <p:nvPr/>
        </p:nvSpPr>
        <p:spPr>
          <a:xfrm>
            <a:off x="868680" y="3291840"/>
            <a:ext cx="3063240" cy="1280160"/>
          </a:xfrm>
          <a:prstGeom prst="rect">
            <a:avLst/>
          </a:prstGeom>
          <a:noFill/>
          <a:ln/>
        </p:spPr>
        <p:txBody>
          <a:bodyPr wrap="square" lIns="0" tIns="0" rIns="0" bIns="0" rtlCol="0" anchor="ctr"/>
          <a:lstStyle/>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mAP@0.5</a:t>
            </a:r>
            <a:endParaRPr lang="en-US" sz="1200" dirty="0"/>
          </a:p>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mAP@0.5-0.95</a:t>
            </a:r>
            <a:endParaRPr lang="en-US" sz="1200" dirty="0"/>
          </a:p>
        </p:txBody>
      </p:sp>
      <p:sp>
        <p:nvSpPr>
          <p:cNvPr id="9" name="Shape 6"/>
          <p:cNvSpPr/>
          <p:nvPr/>
        </p:nvSpPr>
        <p:spPr>
          <a:xfrm>
            <a:off x="4389120" y="1874520"/>
            <a:ext cx="3520440" cy="2834640"/>
          </a:xfrm>
          <a:prstGeom prst="roundRect">
            <a:avLst>
              <a:gd name="adj" fmla="val 3226"/>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0" name="Shape 7"/>
          <p:cNvSpPr/>
          <p:nvPr/>
        </p:nvSpPr>
        <p:spPr>
          <a:xfrm>
            <a:off x="4617720" y="2103120"/>
            <a:ext cx="640080" cy="640080"/>
          </a:xfrm>
          <a:prstGeom prst="ellipse">
            <a:avLst/>
          </a:prstGeom>
          <a:solidFill>
            <a:srgbClr val="EEF2FC"/>
          </a:solidFill>
          <a:ln/>
        </p:spPr>
      </p:sp>
      <p:pic>
        <p:nvPicPr>
          <p:cNvPr id="11" name="Image 1" descr="/home/claude/deck/icons/tachometer_0E7C7B.png"/>
          <p:cNvPicPr>
            <a:picLocks noChangeAspect="1"/>
          </p:cNvPicPr>
          <p:nvPr/>
        </p:nvPicPr>
        <p:blipFill>
          <a:blip r:embed="rId4"/>
          <a:stretch>
            <a:fillRect/>
          </a:stretch>
        </p:blipFill>
        <p:spPr>
          <a:xfrm>
            <a:off x="4754880" y="2240280"/>
            <a:ext cx="365760" cy="365760"/>
          </a:xfrm>
          <a:prstGeom prst="rect">
            <a:avLst/>
          </a:prstGeom>
        </p:spPr>
      </p:pic>
      <p:sp>
        <p:nvSpPr>
          <p:cNvPr id="12" name="Text 8"/>
          <p:cNvSpPr txBox="1"/>
          <p:nvPr/>
        </p:nvSpPr>
        <p:spPr>
          <a:xfrm>
            <a:off x="4617720" y="2880360"/>
            <a:ext cx="306324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Performance Metrics</a:t>
            </a:r>
            <a:endParaRPr lang="en-US" sz="1400" dirty="0"/>
          </a:p>
        </p:txBody>
      </p:sp>
      <p:sp>
        <p:nvSpPr>
          <p:cNvPr id="13" name="Text 9"/>
          <p:cNvSpPr txBox="1"/>
          <p:nvPr/>
        </p:nvSpPr>
        <p:spPr>
          <a:xfrm>
            <a:off x="4617720" y="3291840"/>
            <a:ext cx="3063240" cy="1280160"/>
          </a:xfrm>
          <a:prstGeom prst="rect">
            <a:avLst/>
          </a:prstGeom>
          <a:noFill/>
          <a:ln/>
        </p:spPr>
        <p:txBody>
          <a:bodyPr wrap="square" lIns="0" tIns="0" rIns="0" bIns="0" rtlCol="0" anchor="ctr"/>
          <a:lstStyle/>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FPS &amp; per-frame latency (ms)</a:t>
            </a:r>
            <a:endParaRPr lang="en-US" sz="1200" dirty="0"/>
          </a:p>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CPU / GPU utilization</a:t>
            </a:r>
            <a:endParaRPr lang="en-US" sz="1200" dirty="0"/>
          </a:p>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Memory footprint (MB)</a:t>
            </a:r>
            <a:endParaRPr lang="en-US" sz="1200" dirty="0"/>
          </a:p>
        </p:txBody>
      </p:sp>
      <p:sp>
        <p:nvSpPr>
          <p:cNvPr id="14" name="Shape 10"/>
          <p:cNvSpPr/>
          <p:nvPr/>
        </p:nvSpPr>
        <p:spPr>
          <a:xfrm>
            <a:off x="8138160" y="1874520"/>
            <a:ext cx="3520440" cy="2834640"/>
          </a:xfrm>
          <a:prstGeom prst="roundRect">
            <a:avLst>
              <a:gd name="adj" fmla="val 3226"/>
            </a:avLst>
          </a:prstGeom>
          <a:solidFill>
            <a:srgbClr val="FFFFFF"/>
          </a:solidFill>
          <a:ln w="12700">
            <a:solidFill>
              <a:srgbClr val="DCE4F2"/>
            </a:solidFill>
            <a:prstDash val="solid"/>
          </a:ln>
          <a:effectLst>
            <a:outerShdw blurRad="88900" dist="25400" dir="5400000" algn="bl" rotWithShape="0">
              <a:srgbClr val="1E2761">
                <a:alpha val="9000"/>
              </a:srgbClr>
            </a:outerShdw>
          </a:effectLst>
        </p:spPr>
      </p:sp>
      <p:sp>
        <p:nvSpPr>
          <p:cNvPr id="15" name="Shape 11"/>
          <p:cNvSpPr/>
          <p:nvPr/>
        </p:nvSpPr>
        <p:spPr>
          <a:xfrm>
            <a:off x="8366760" y="2103120"/>
            <a:ext cx="640080" cy="640080"/>
          </a:xfrm>
          <a:prstGeom prst="ellipse">
            <a:avLst/>
          </a:prstGeom>
          <a:solidFill>
            <a:srgbClr val="EEF2FC"/>
          </a:solidFill>
          <a:ln/>
        </p:spPr>
      </p:sp>
      <p:pic>
        <p:nvPicPr>
          <p:cNvPr id="16" name="Image 2" descr="/home/claude/deck/icons/bolt_1E2761.png"/>
          <p:cNvPicPr>
            <a:picLocks noChangeAspect="1"/>
          </p:cNvPicPr>
          <p:nvPr/>
        </p:nvPicPr>
        <p:blipFill>
          <a:blip r:embed="rId5"/>
          <a:stretch>
            <a:fillRect/>
          </a:stretch>
        </p:blipFill>
        <p:spPr>
          <a:xfrm>
            <a:off x="8503920" y="2240280"/>
            <a:ext cx="365760" cy="365760"/>
          </a:xfrm>
          <a:prstGeom prst="rect">
            <a:avLst/>
          </a:prstGeom>
        </p:spPr>
      </p:pic>
      <p:sp>
        <p:nvSpPr>
          <p:cNvPr id="17" name="Text 12"/>
          <p:cNvSpPr txBox="1"/>
          <p:nvPr/>
        </p:nvSpPr>
        <p:spPr>
          <a:xfrm>
            <a:off x="8366760" y="2880360"/>
            <a:ext cx="306324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Energy Metrics</a:t>
            </a:r>
            <a:endParaRPr lang="en-US" sz="1400" dirty="0"/>
          </a:p>
        </p:txBody>
      </p:sp>
      <p:sp>
        <p:nvSpPr>
          <p:cNvPr id="18" name="Text 13"/>
          <p:cNvSpPr txBox="1"/>
          <p:nvPr/>
        </p:nvSpPr>
        <p:spPr>
          <a:xfrm>
            <a:off x="8366760" y="3291840"/>
            <a:ext cx="3063240" cy="1280160"/>
          </a:xfrm>
          <a:prstGeom prst="rect">
            <a:avLst/>
          </a:prstGeom>
          <a:noFill/>
          <a:ln/>
        </p:spPr>
        <p:txBody>
          <a:bodyPr wrap="square" lIns="0" tIns="0" rIns="0" bIns="0" rtlCol="0" anchor="ctr"/>
          <a:lstStyle/>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Power draw (W)</a:t>
            </a:r>
            <a:endParaRPr lang="en-US" sz="1200" dirty="0"/>
          </a:p>
          <a:p>
            <a:pPr marL="177800" indent="-177800">
              <a:lnSpc>
                <a:spcPct val="120000"/>
              </a:lnSpc>
              <a:spcAft>
                <a:spcPts val="600"/>
              </a:spcAft>
              <a:buSzPct val="100000"/>
              <a:buChar char="•"/>
            </a:pPr>
            <a:r>
              <a:rPr lang="en-US" sz="1200" dirty="0">
                <a:solidFill>
                  <a:srgbClr val="1A1F3C"/>
                </a:solidFill>
                <a:latin typeface="Calibri" pitchFamily="34" charset="0"/>
                <a:ea typeface="Calibri" pitchFamily="34" charset="-122"/>
                <a:cs typeface="Calibri" pitchFamily="34" charset="-120"/>
              </a:rPr>
              <a:t>Energy per frame (J/frame)</a:t>
            </a:r>
            <a:endParaRPr lang="en-US" sz="1200" dirty="0"/>
          </a:p>
        </p:txBody>
      </p:sp>
      <p:sp>
        <p:nvSpPr>
          <p:cNvPr id="19" name="Shape 14"/>
          <p:cNvSpPr/>
          <p:nvPr/>
        </p:nvSpPr>
        <p:spPr>
          <a:xfrm>
            <a:off x="640080" y="4983480"/>
            <a:ext cx="10881360" cy="777240"/>
          </a:xfrm>
          <a:prstGeom prst="roundRect">
            <a:avLst>
              <a:gd name="adj" fmla="val 9412"/>
            </a:avLst>
          </a:prstGeom>
          <a:solidFill>
            <a:srgbClr val="FDF0DA"/>
          </a:solidFill>
          <a:ln w="12700">
            <a:solidFill>
              <a:srgbClr val="F0D9A8"/>
            </a:solidFill>
            <a:prstDash val="solid"/>
          </a:ln>
        </p:spPr>
      </p:sp>
      <p:sp>
        <p:nvSpPr>
          <p:cNvPr id="20" name="Text 15"/>
          <p:cNvSpPr txBox="1"/>
          <p:nvPr/>
        </p:nvSpPr>
        <p:spPr>
          <a:xfrm>
            <a:off x="914400" y="4983480"/>
            <a:ext cx="10332720" cy="777240"/>
          </a:xfrm>
          <a:prstGeom prst="rect">
            <a:avLst/>
          </a:prstGeom>
          <a:noFill/>
          <a:ln/>
        </p:spPr>
        <p:txBody>
          <a:bodyPr wrap="square" lIns="0" tIns="0" rIns="0" bIns="0"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Trade-off analysis:  </a:t>
            </a:r>
            <a:r>
              <a:rPr lang="en-US" sz="1250" dirty="0">
                <a:solidFill>
                  <a:srgbClr val="1A1F3C"/>
                </a:solidFill>
                <a:latin typeface="Calibri" pitchFamily="34" charset="0"/>
                <a:ea typeface="Calibri" pitchFamily="34" charset="-122"/>
                <a:cs typeface="Calibri" pitchFamily="34" charset="-120"/>
              </a:rPr>
              <a:t>mAP vs. FPS vs. power plotted per hardware class and optimization technique — baseline, quantized, pruned, distilled, and combined configurations.</a:t>
            </a:r>
            <a:endParaRPr lang="en-US" sz="1250" dirty="0"/>
          </a:p>
        </p:txBody>
      </p:sp>
      <p:sp>
        <p:nvSpPr>
          <p:cNvPr id="21" name="Text 16"/>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08 · OUTCOMES</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Expected Contributions</a:t>
            </a:r>
            <a:endParaRPr lang="en-US" sz="2700" dirty="0"/>
          </a:p>
        </p:txBody>
      </p:sp>
      <p:sp>
        <p:nvSpPr>
          <p:cNvPr id="4" name="Shape 2"/>
          <p:cNvSpPr/>
          <p:nvPr/>
        </p:nvSpPr>
        <p:spPr>
          <a:xfrm>
            <a:off x="640080" y="187452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5" name="Shape 3"/>
          <p:cNvSpPr/>
          <p:nvPr/>
        </p:nvSpPr>
        <p:spPr>
          <a:xfrm>
            <a:off x="896112" y="2130552"/>
            <a:ext cx="777240" cy="777240"/>
          </a:xfrm>
          <a:prstGeom prst="ellipse">
            <a:avLst/>
          </a:prstGeom>
          <a:solidFill>
            <a:srgbClr val="EEF2FC"/>
          </a:solidFill>
          <a:ln/>
        </p:spPr>
      </p:sp>
      <p:pic>
        <p:nvPicPr>
          <p:cNvPr id="6" name="Image 0" descr="/home/claude/deck/icons/chartbar_1E2761.png"/>
          <p:cNvPicPr>
            <a:picLocks noChangeAspect="1"/>
          </p:cNvPicPr>
          <p:nvPr/>
        </p:nvPicPr>
        <p:blipFill>
          <a:blip r:embed="rId3"/>
          <a:stretch>
            <a:fillRect/>
          </a:stretch>
        </p:blipFill>
        <p:spPr>
          <a:xfrm>
            <a:off x="1060704" y="2295144"/>
            <a:ext cx="448056" cy="448056"/>
          </a:xfrm>
          <a:prstGeom prst="rect">
            <a:avLst/>
          </a:prstGeom>
        </p:spPr>
      </p:pic>
      <p:sp>
        <p:nvSpPr>
          <p:cNvPr id="7" name="Text 4"/>
          <p:cNvSpPr txBox="1"/>
          <p:nvPr/>
        </p:nvSpPr>
        <p:spPr>
          <a:xfrm>
            <a:off x="1828800" y="2075688"/>
            <a:ext cx="384048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Unified UAV Benchmark</a:t>
            </a:r>
            <a:endParaRPr lang="en-US" sz="1450" dirty="0"/>
          </a:p>
        </p:txBody>
      </p:sp>
      <p:sp>
        <p:nvSpPr>
          <p:cNvPr id="8" name="Text 5"/>
          <p:cNvSpPr txBox="1"/>
          <p:nvPr/>
        </p:nvSpPr>
        <p:spPr>
          <a:xfrm>
            <a:off x="1828800" y="2423160"/>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Systematic measurements of YOLO11/YOLO26 on VisDrone across Pi 5, Jetson Nano, smartphone, and laptop configurations.</a:t>
            </a:r>
            <a:endParaRPr lang="en-US" sz="1150" dirty="0"/>
          </a:p>
        </p:txBody>
      </p:sp>
      <p:sp>
        <p:nvSpPr>
          <p:cNvPr id="9" name="Shape 6"/>
          <p:cNvSpPr/>
          <p:nvPr/>
        </p:nvSpPr>
        <p:spPr>
          <a:xfrm>
            <a:off x="6263640" y="187452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0" name="Shape 7"/>
          <p:cNvSpPr/>
          <p:nvPr/>
        </p:nvSpPr>
        <p:spPr>
          <a:xfrm>
            <a:off x="6519672" y="2130552"/>
            <a:ext cx="777240" cy="777240"/>
          </a:xfrm>
          <a:prstGeom prst="ellipse">
            <a:avLst/>
          </a:prstGeom>
          <a:solidFill>
            <a:srgbClr val="EEF2FC"/>
          </a:solidFill>
          <a:ln/>
        </p:spPr>
      </p:sp>
      <p:pic>
        <p:nvPicPr>
          <p:cNvPr id="11" name="Image 1" descr="/home/claude/deck/icons/layergroup_1E2761.png"/>
          <p:cNvPicPr>
            <a:picLocks noChangeAspect="1"/>
          </p:cNvPicPr>
          <p:nvPr/>
        </p:nvPicPr>
        <p:blipFill>
          <a:blip r:embed="rId4"/>
          <a:stretch>
            <a:fillRect/>
          </a:stretch>
        </p:blipFill>
        <p:spPr>
          <a:xfrm>
            <a:off x="6684264" y="2295144"/>
            <a:ext cx="448056" cy="448056"/>
          </a:xfrm>
          <a:prstGeom prst="rect">
            <a:avLst/>
          </a:prstGeom>
        </p:spPr>
      </p:pic>
      <p:sp>
        <p:nvSpPr>
          <p:cNvPr id="12" name="Text 8"/>
          <p:cNvSpPr txBox="1"/>
          <p:nvPr/>
        </p:nvSpPr>
        <p:spPr>
          <a:xfrm>
            <a:off x="7452360" y="2075688"/>
            <a:ext cx="384048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Tailored Compression Pipeline</a:t>
            </a:r>
            <a:endParaRPr lang="en-US" sz="1450" dirty="0"/>
          </a:p>
        </p:txBody>
      </p:sp>
      <p:sp>
        <p:nvSpPr>
          <p:cNvPr id="13" name="Text 9"/>
          <p:cNvSpPr txBox="1"/>
          <p:nvPr/>
        </p:nvSpPr>
        <p:spPr>
          <a:xfrm>
            <a:off x="7452360" y="2423160"/>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Practical quantization, pruning, and distillation pipeline for UAV edge deployment, with detailed mAP / FPS / power trade-offs.</a:t>
            </a:r>
            <a:endParaRPr lang="en-US" sz="1150" dirty="0"/>
          </a:p>
        </p:txBody>
      </p:sp>
      <p:sp>
        <p:nvSpPr>
          <p:cNvPr id="14" name="Shape 10"/>
          <p:cNvSpPr/>
          <p:nvPr/>
        </p:nvSpPr>
        <p:spPr>
          <a:xfrm>
            <a:off x="640080" y="397764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15" name="Shape 11"/>
          <p:cNvSpPr/>
          <p:nvPr/>
        </p:nvSpPr>
        <p:spPr>
          <a:xfrm>
            <a:off x="896112" y="4233672"/>
            <a:ext cx="777240" cy="777240"/>
          </a:xfrm>
          <a:prstGeom prst="ellipse">
            <a:avLst/>
          </a:prstGeom>
          <a:solidFill>
            <a:srgbClr val="EEF2FC"/>
          </a:solidFill>
          <a:ln/>
        </p:spPr>
      </p:sp>
      <p:pic>
        <p:nvPicPr>
          <p:cNvPr id="16" name="Image 2" descr="/home/claude/deck/icons/map_1E2761.png"/>
          <p:cNvPicPr>
            <a:picLocks noChangeAspect="1"/>
          </p:cNvPicPr>
          <p:nvPr/>
        </p:nvPicPr>
        <p:blipFill>
          <a:blip r:embed="rId5"/>
          <a:stretch>
            <a:fillRect/>
          </a:stretch>
        </p:blipFill>
        <p:spPr>
          <a:xfrm>
            <a:off x="1060704" y="4398264"/>
            <a:ext cx="448056" cy="448056"/>
          </a:xfrm>
          <a:prstGeom prst="rect">
            <a:avLst/>
          </a:prstGeom>
        </p:spPr>
      </p:pic>
      <p:sp>
        <p:nvSpPr>
          <p:cNvPr id="17" name="Text 12"/>
          <p:cNvSpPr txBox="1"/>
          <p:nvPr/>
        </p:nvSpPr>
        <p:spPr>
          <a:xfrm>
            <a:off x="1828800" y="4178808"/>
            <a:ext cx="384048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Device-Specific Guidelines</a:t>
            </a:r>
            <a:endParaRPr lang="en-US" sz="1450" dirty="0"/>
          </a:p>
        </p:txBody>
      </p:sp>
      <p:sp>
        <p:nvSpPr>
          <p:cNvPr id="18" name="Text 13"/>
          <p:cNvSpPr txBox="1"/>
          <p:nvPr/>
        </p:nvSpPr>
        <p:spPr>
          <a:xfrm>
            <a:off x="1828800" y="4526280"/>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Recommendations on model variant, runtime format, and optimization level per hardware class — plus open-source configs.</a:t>
            </a:r>
            <a:endParaRPr lang="en-US" sz="1150" dirty="0"/>
          </a:p>
        </p:txBody>
      </p:sp>
      <p:sp>
        <p:nvSpPr>
          <p:cNvPr id="19" name="Shape 14"/>
          <p:cNvSpPr/>
          <p:nvPr/>
        </p:nvSpPr>
        <p:spPr>
          <a:xfrm>
            <a:off x="6263640" y="3977640"/>
            <a:ext cx="5257800" cy="1874520"/>
          </a:xfrm>
          <a:prstGeom prst="roundRect">
            <a:avLst>
              <a:gd name="adj" fmla="val 4390"/>
            </a:avLst>
          </a:prstGeom>
          <a:solidFill>
            <a:srgbClr val="FFFFFF"/>
          </a:solidFill>
          <a:ln w="12700">
            <a:solidFill>
              <a:srgbClr val="DCE4F2"/>
            </a:solidFill>
            <a:prstDash val="solid"/>
          </a:ln>
          <a:effectLst>
            <a:outerShdw blurRad="76200" dist="25400" dir="5400000" algn="bl" rotWithShape="0">
              <a:srgbClr val="1E2761">
                <a:alpha val="8000"/>
              </a:srgbClr>
            </a:outerShdw>
          </a:effectLst>
        </p:spPr>
      </p:sp>
      <p:sp>
        <p:nvSpPr>
          <p:cNvPr id="20" name="Shape 15"/>
          <p:cNvSpPr/>
          <p:nvPr/>
        </p:nvSpPr>
        <p:spPr>
          <a:xfrm>
            <a:off x="6519672" y="4233672"/>
            <a:ext cx="777240" cy="777240"/>
          </a:xfrm>
          <a:prstGeom prst="ellipse">
            <a:avLst/>
          </a:prstGeom>
          <a:solidFill>
            <a:srgbClr val="EEF2FC"/>
          </a:solidFill>
          <a:ln/>
        </p:spPr>
      </p:sp>
      <p:pic>
        <p:nvPicPr>
          <p:cNvPr id="21" name="Image 3" descr="/home/claude/deck/icons/handshake_1E2761.png"/>
          <p:cNvPicPr>
            <a:picLocks noChangeAspect="1"/>
          </p:cNvPicPr>
          <p:nvPr/>
        </p:nvPicPr>
        <p:blipFill>
          <a:blip r:embed="rId6"/>
          <a:stretch>
            <a:fillRect/>
          </a:stretch>
        </p:blipFill>
        <p:spPr>
          <a:xfrm>
            <a:off x="6684264" y="4398264"/>
            <a:ext cx="448056" cy="448056"/>
          </a:xfrm>
          <a:prstGeom prst="rect">
            <a:avLst/>
          </a:prstGeom>
        </p:spPr>
      </p:pic>
      <p:sp>
        <p:nvSpPr>
          <p:cNvPr id="22" name="Text 16"/>
          <p:cNvSpPr txBox="1"/>
          <p:nvPr/>
        </p:nvSpPr>
        <p:spPr>
          <a:xfrm>
            <a:off x="7452360" y="4178808"/>
            <a:ext cx="384048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Vision × Systems Bridge</a:t>
            </a:r>
            <a:endParaRPr lang="en-US" sz="1450" dirty="0"/>
          </a:p>
        </p:txBody>
      </p:sp>
      <p:sp>
        <p:nvSpPr>
          <p:cNvPr id="23" name="Text 17"/>
          <p:cNvSpPr txBox="1"/>
          <p:nvPr/>
        </p:nvSpPr>
        <p:spPr>
          <a:xfrm>
            <a:off x="7452360" y="4526280"/>
            <a:ext cx="3840480" cy="1143000"/>
          </a:xfrm>
          <a:prstGeom prst="rect">
            <a:avLst/>
          </a:prstGeom>
          <a:noFill/>
          <a:ln/>
        </p:spPr>
        <p:txBody>
          <a:bodyPr wrap="square" lIns="0" tIns="0" rIns="0" bIns="0" rtlCol="0" anchor="ctr"/>
          <a:lstStyle/>
          <a:p>
            <a:pPr marL="0" indent="0">
              <a:lnSpc>
                <a:spcPct val="120000"/>
              </a:lnSpc>
              <a:buNone/>
            </a:pPr>
            <a:r>
              <a:rPr lang="en-US" sz="1150" dirty="0">
                <a:solidFill>
                  <a:srgbClr val="1A1F3C"/>
                </a:solidFill>
                <a:latin typeface="Calibri" pitchFamily="34" charset="0"/>
                <a:ea typeface="Calibri" pitchFamily="34" charset="-122"/>
                <a:cs typeface="Calibri" pitchFamily="34" charset="-120"/>
              </a:rPr>
              <a:t>Connects UAV computer vision with rigorous embedded-systems benchmarking for both research communities.</a:t>
            </a:r>
            <a:endParaRPr lang="en-US" sz="1150" dirty="0"/>
          </a:p>
        </p:txBody>
      </p:sp>
      <p:sp>
        <p:nvSpPr>
          <p:cNvPr id="24" name="Text 18"/>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4023360"/>
            <a:ext cx="3840480" cy="3840480"/>
          </a:xfrm>
          <a:prstGeom prst="ellipse">
            <a:avLst/>
          </a:prstGeom>
          <a:solidFill>
            <a:srgbClr val="26317A"/>
          </a:solidFill>
          <a:ln/>
        </p:spPr>
      </p:sp>
      <p:sp>
        <p:nvSpPr>
          <p:cNvPr id="3" name="Text 1"/>
          <p:cNvSpPr txBox="1"/>
          <p:nvPr/>
        </p:nvSpPr>
        <p:spPr>
          <a:xfrm>
            <a:off x="640080" y="548640"/>
            <a:ext cx="7315200" cy="32004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CONCLUSION &amp; FUTURE WORK</a:t>
            </a:r>
            <a:endParaRPr lang="en-US" sz="1250" dirty="0"/>
          </a:p>
        </p:txBody>
      </p:sp>
      <p:sp>
        <p:nvSpPr>
          <p:cNvPr id="4" name="Text 2"/>
          <p:cNvSpPr txBox="1"/>
          <p:nvPr/>
        </p:nvSpPr>
        <p:spPr>
          <a:xfrm>
            <a:off x="640080" y="914400"/>
            <a:ext cx="9875520" cy="822960"/>
          </a:xfrm>
          <a:prstGeom prst="rect">
            <a:avLst/>
          </a:prstGeom>
          <a:noFill/>
          <a:ln/>
        </p:spPr>
        <p:txBody>
          <a:bodyPr wrap="square" lIns="0" tIns="0" rIns="0" bIns="0" rtlCol="0" anchor="ctr"/>
          <a:lstStyle/>
          <a:p>
            <a:pPr marL="0" indent="0">
              <a:lnSpc>
                <a:spcPct val="102000"/>
              </a:lnSpc>
              <a:buNone/>
            </a:pPr>
            <a:r>
              <a:rPr lang="en-US" sz="2800" b="1" dirty="0">
                <a:solidFill>
                  <a:srgbClr val="FFFFFF"/>
                </a:solidFill>
                <a:latin typeface="Cambria" pitchFamily="34" charset="0"/>
                <a:ea typeface="Cambria" pitchFamily="34" charset="-122"/>
                <a:cs typeface="Cambria" pitchFamily="34" charset="-120"/>
              </a:rPr>
              <a:t>Toward Robust, Efficient UAV Perception at the Edge</a:t>
            </a:r>
            <a:endParaRPr lang="en-US" sz="2800" dirty="0"/>
          </a:p>
        </p:txBody>
      </p:sp>
      <p:sp>
        <p:nvSpPr>
          <p:cNvPr id="5" name="Text 3"/>
          <p:cNvSpPr txBox="1"/>
          <p:nvPr/>
        </p:nvSpPr>
        <p:spPr>
          <a:xfrm>
            <a:off x="640080" y="2148840"/>
            <a:ext cx="7863840" cy="3566160"/>
          </a:xfrm>
          <a:prstGeom prst="rect">
            <a:avLst/>
          </a:prstGeom>
          <a:noFill/>
          <a:ln/>
        </p:spPr>
        <p:txBody>
          <a:bodyPr wrap="square" lIns="0" tIns="0" rIns="0" bIns="0" rtlCol="0" anchor="ctr"/>
          <a:lstStyle/>
          <a:p>
            <a:pPr marL="0" indent="0">
              <a:lnSpc>
                <a:spcPct val="135000"/>
              </a:lnSpc>
              <a:spcAft>
                <a:spcPts val="1200"/>
              </a:spcAft>
              <a:buNone/>
            </a:pPr>
            <a:r>
              <a:rPr lang="en-US" sz="1550" dirty="0">
                <a:solidFill>
                  <a:srgbClr val="CADCFC"/>
                </a:solidFill>
                <a:latin typeface="Calibri" pitchFamily="34" charset="0"/>
                <a:ea typeface="Calibri" pitchFamily="34" charset="-122"/>
                <a:cs typeface="Calibri" pitchFamily="34" charset="-120"/>
              </a:rPr>
              <a:t>This proposal trains YOLO11/YOLO26 on VisDrone and systematically applies quantization, pruning, and distillation across four heterogeneous edge platforms.</a:t>
            </a:r>
            <a:endParaRPr lang="en-US" sz="1550" dirty="0"/>
          </a:p>
          <a:p>
            <a:pPr marL="0" indent="0">
              <a:lnSpc>
                <a:spcPct val="135000"/>
              </a:lnSpc>
              <a:spcAft>
                <a:spcPts val="1200"/>
              </a:spcAft>
              <a:buNone/>
            </a:pPr>
            <a:r>
              <a:rPr lang="en-US" sz="1550" dirty="0">
                <a:solidFill>
                  <a:srgbClr val="CADCFC"/>
                </a:solidFill>
                <a:latin typeface="Calibri" pitchFamily="34" charset="0"/>
                <a:ea typeface="Calibri" pitchFamily="34" charset="-122"/>
                <a:cs typeface="Calibri" pitchFamily="34" charset="-120"/>
              </a:rPr>
              <a:t>By jointly measuring detection accuracy and system-level cost, it aims to deliver concrete, device-specific deployment guidance for UAV monitoring and edge AI.</a:t>
            </a:r>
            <a:endParaRPr lang="en-US" sz="1550" dirty="0"/>
          </a:p>
          <a:p>
            <a:pPr marL="0" indent="0">
              <a:lnSpc>
                <a:spcPct val="135000"/>
              </a:lnSpc>
              <a:buNone/>
            </a:pPr>
            <a:r>
              <a:rPr lang="en-US" sz="1550" b="1" dirty="0">
                <a:solidFill>
                  <a:srgbClr val="CADCFC"/>
                </a:solidFill>
                <a:latin typeface="Calibri" pitchFamily="34" charset="0"/>
                <a:ea typeface="Calibri" pitchFamily="34" charset="-122"/>
                <a:cs typeface="Calibri" pitchFamily="34" charset="-120"/>
              </a:rPr>
              <a:t>The framework is designed to extend to additional YOLO families and hardware accelerators</a:t>
            </a:r>
            <a:r>
              <a:rPr lang="en-US" sz="1550" dirty="0">
                <a:solidFill>
                  <a:srgbClr val="CADCFC"/>
                </a:solidFill>
                <a:latin typeface="Calibri" pitchFamily="34" charset="0"/>
                <a:ea typeface="Calibri" pitchFamily="34" charset="-122"/>
                <a:cs typeface="Calibri" pitchFamily="34" charset="-120"/>
              </a:rPr>
              <a:t>, paving the way for robust, efficient drone-based perception on real-world edge infrastructure.</a:t>
            </a:r>
            <a:endParaRPr lang="en-US" sz="1550" dirty="0"/>
          </a:p>
        </p:txBody>
      </p:sp>
      <p:sp>
        <p:nvSpPr>
          <p:cNvPr id="6" name="Text 4"/>
          <p:cNvSpPr txBox="1"/>
          <p:nvPr/>
        </p:nvSpPr>
        <p:spPr>
          <a:xfrm>
            <a:off x="640080" y="5943600"/>
            <a:ext cx="7315200" cy="457200"/>
          </a:xfrm>
          <a:prstGeom prst="rect">
            <a:avLst/>
          </a:prstGeom>
          <a:noFill/>
          <a:ln/>
        </p:spPr>
        <p:txBody>
          <a:bodyPr wrap="square" lIns="0" tIns="0" rIns="0" bIns="0" rtlCol="0" anchor="ctr"/>
          <a:lstStyle/>
          <a:p>
            <a:pPr marL="0" indent="0">
              <a:buNone/>
            </a:pPr>
            <a:r>
              <a:rPr lang="en-US" sz="1600" i="1" dirty="0">
                <a:solidFill>
                  <a:srgbClr val="F2A93B"/>
                </a:solidFill>
                <a:latin typeface="Cambria" pitchFamily="34" charset="0"/>
                <a:ea typeface="Cambria" pitchFamily="34" charset="-122"/>
                <a:cs typeface="Cambria" pitchFamily="34" charset="-120"/>
              </a:rPr>
              <a:t>Thank you — questions welcome</a:t>
            </a:r>
            <a:endParaRPr lang="en-US" sz="1600" dirty="0"/>
          </a:p>
        </p:txBody>
      </p:sp>
      <p:sp>
        <p:nvSpPr>
          <p:cNvPr id="7" name="Text 5"/>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8B98C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REFERENCES  ·  1 OF 2</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References (IEEE Style)</a:t>
            </a:r>
            <a:endParaRPr lang="en-US" sz="2700" dirty="0"/>
          </a:p>
        </p:txBody>
      </p:sp>
      <p:sp>
        <p:nvSpPr>
          <p:cNvPr id="4" name="Text 2"/>
          <p:cNvSpPr txBox="1"/>
          <p:nvPr/>
        </p:nvSpPr>
        <p:spPr>
          <a:xfrm>
            <a:off x="640080" y="1828800"/>
            <a:ext cx="5212080" cy="4343400"/>
          </a:xfrm>
          <a:prstGeom prst="rect">
            <a:avLst/>
          </a:prstGeom>
          <a:noFill/>
          <a:ln/>
        </p:spPr>
        <p:txBody>
          <a:bodyPr wrap="square" lIns="0" tIns="0" rIns="0" bIns="0" rtlCol="0" anchor="ctr"/>
          <a:lstStyle/>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 </a:t>
            </a:r>
            <a:r>
              <a:rPr lang="en-US" sz="1100" u="sng" dirty="0">
                <a:solidFill>
                  <a:srgbClr val="0E7C7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Novel Approach for Object Detection in Embedded Systems.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 </a:t>
            </a:r>
            <a:r>
              <a:rPr lang="en-US" sz="1100" u="sng" dirty="0">
                <a:solidFill>
                  <a:srgbClr val="0E7C7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Lightweight YOLO-Based Real-Time Object Detection.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 </a:t>
            </a:r>
            <a:r>
              <a:rPr lang="en-US" sz="1100"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Benchmarking Deep Learning Models for Object Detection.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[4] </a:t>
            </a:r>
            <a:r>
              <a:rPr lang="en-US" sz="1100"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Model Compression Methods for YOLOv5: A Review.</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[5] </a:t>
            </a:r>
            <a:r>
              <a:rPr lang="en-US" sz="1100" u="sng" dirty="0">
                <a:solidFill>
                  <a:srgbClr val="0E7C7B"/>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YOLO26 on Raspberry Pi — Setup &amp; Benchmarks, Ultralytics.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[6] </a:t>
            </a:r>
            <a:r>
              <a:rPr lang="en-US" sz="1100" u="sng" dirty="0">
                <a:solidFill>
                  <a:srgbClr val="0E7C7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GitHub — choya-lee/yolo-papers: Curated List of YOLO Papers.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[7] </a:t>
            </a:r>
            <a:r>
              <a:rPr lang="en-US" sz="1100" u="sng" dirty="0">
                <a:solidFill>
                  <a:srgbClr val="0E7C7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Ultralytics YOLO11 Documentation.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[8] </a:t>
            </a:r>
            <a:r>
              <a:rPr lang="en-US" sz="1100" u="sng" dirty="0">
                <a:solidFill>
                  <a:srgbClr val="0E7C7B"/>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Ultralytics YOLO26 / YOLO11 / YOLOv8 Overview (GitHub).</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[9] </a:t>
            </a:r>
            <a:r>
              <a:rPr lang="en-US" sz="1100" u="sng" dirty="0">
                <a:solidFill>
                  <a:srgbClr val="0E7C7B"/>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Ultralytics YOLO11 — Fast, Accurate Vision AI.</a:t>
            </a:r>
            <a:endParaRPr lang="en-US" sz="1100" dirty="0"/>
          </a:p>
        </p:txBody>
      </p:sp>
      <p:sp>
        <p:nvSpPr>
          <p:cNvPr id="5" name="Text 3"/>
          <p:cNvSpPr txBox="1"/>
          <p:nvPr/>
        </p:nvSpPr>
        <p:spPr>
          <a:xfrm>
            <a:off x="6309360" y="1828800"/>
            <a:ext cx="5212080" cy="4343400"/>
          </a:xfrm>
          <a:prstGeom prst="rect">
            <a:avLst/>
          </a:prstGeom>
          <a:noFill/>
          <a:ln/>
        </p:spPr>
        <p:txBody>
          <a:bodyPr wrap="square" lIns="0" tIns="0" rIns="0" bIns="0" rtlCol="0" anchor="ctr"/>
          <a:lstStyle/>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[10] </a:t>
            </a:r>
            <a:r>
              <a:rPr lang="en-US" sz="1100" u="sng" dirty="0">
                <a:solidFill>
                  <a:srgbClr val="0E7C7B"/>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VisDrone Detection Dataset — Ultralytics YOLO Docs.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[11] </a:t>
            </a:r>
            <a:r>
              <a:rPr lang="en-US" sz="1100" u="sng" dirty="0">
                <a:solidFill>
                  <a:srgbClr val="0E7C7B"/>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VisDrone — Official GitHub Organization.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[12] </a:t>
            </a:r>
            <a:r>
              <a:rPr lang="en-US" sz="1100" u="sng" dirty="0">
                <a:solidFill>
                  <a:srgbClr val="0E7C7B"/>
                </a:solidFill>
                <a:latin typeface="Calibri" pitchFamily="34" charset="0"/>
                <a:ea typeface="Calibri" pitchFamily="34" charset="-122"/>
                <a:cs typeface="Calibri" pitchFamily="34" charset="-120"/>
                <a:hlinkClick r:id="rId14">
                  <a:extLst>
                    <a:ext uri="{A12FA001-AC4F-418D-AE19-62706E023703}">
                      <ahyp:hlinkClr xmlns:ahyp="http://schemas.microsoft.com/office/drawing/2018/hyperlinkcolor" val="tx"/>
                    </a:ext>
                  </a:extLst>
                </a:hlinkClick>
              </a:rPr>
              <a:t>Best Object Detection Models for Pi 5 + Hailo-8 (2026).</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[13] </a:t>
            </a:r>
            <a:r>
              <a:rPr lang="en-US" sz="1100" u="sng" dirty="0">
                <a:solidFill>
                  <a:srgbClr val="0E7C7B"/>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Table 6 — Object Detection Benchmark, Sensors Journal (PMC).</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[14] </a:t>
            </a:r>
            <a:r>
              <a:rPr lang="en-US" sz="1100" u="sng" dirty="0">
                <a:solidFill>
                  <a:srgbClr val="0E7C7B"/>
                </a:solidFill>
                <a:latin typeface="Calibri" pitchFamily="34" charset="0"/>
                <a:ea typeface="Calibri" pitchFamily="34" charset="-122"/>
                <a:cs typeface="Calibri" pitchFamily="34" charset="-120"/>
                <a:hlinkClick r:id="rId16">
                  <a:extLst>
                    <a:ext uri="{A12FA001-AC4F-418D-AE19-62706E023703}">
                      <ahyp:hlinkClr xmlns:ahyp="http://schemas.microsoft.com/office/drawing/2018/hyperlinkcolor" val="tx"/>
                    </a:ext>
                  </a:extLst>
                </a:hlinkClick>
              </a:rPr>
              <a:t>Raspberry Pi 5 with Hailo-8L Benchmark — Hailo Community.</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[15] </a:t>
            </a:r>
            <a:r>
              <a:rPr lang="en-US" sz="1100" u="sng" dirty="0">
                <a:solidFill>
                  <a:srgbClr val="0E7C7B"/>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Benchmark of Multistream Inference on Pi 5 with Hailo-8.</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[16] </a:t>
            </a:r>
            <a:r>
              <a:rPr lang="en-US" sz="1100" u="sng" dirty="0">
                <a:solidFill>
                  <a:srgbClr val="0E7C7B"/>
                </a:solidFill>
                <a:latin typeface="Calibri" pitchFamily="34" charset="0"/>
                <a:ea typeface="Calibri" pitchFamily="34" charset="-122"/>
                <a:cs typeface="Calibri" pitchFamily="34" charset="-120"/>
                <a:hlinkClick r:id="rId18">
                  <a:extLst>
                    <a:ext uri="{A12FA001-AC4F-418D-AE19-62706E023703}">
                      <ahyp:hlinkClr xmlns:ahyp="http://schemas.microsoft.com/office/drawing/2018/hyperlinkcolor" val="tx"/>
                    </a:ext>
                  </a:extLst>
                </a:hlinkClick>
              </a:rPr>
              <a:t>Fine-Tuning &amp; Deployment of YOLOv7 on Edge Devices (IEEE).</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[17] </a:t>
            </a:r>
            <a:r>
              <a:rPr lang="en-US" sz="1100" u="sng" dirty="0">
                <a:solidFill>
                  <a:srgbClr val="0E7C7B"/>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AI Kit Necessity for YOLO Usage on Raspberry Pi 5 (Forum).</a:t>
            </a:r>
            <a:endParaRPr lang="en-US" sz="1100" dirty="0"/>
          </a:p>
        </p:txBody>
      </p:sp>
      <p:sp>
        <p:nvSpPr>
          <p:cNvPr id="6" name="Text 4"/>
          <p:cNvSpPr txBox="1"/>
          <p:nvPr/>
        </p:nvSpPr>
        <p:spPr>
          <a:xfrm>
            <a:off x="640080" y="6309360"/>
            <a:ext cx="10881360" cy="320040"/>
          </a:xfrm>
          <a:prstGeom prst="rect">
            <a:avLst/>
          </a:prstGeom>
          <a:noFill/>
          <a:ln/>
        </p:spPr>
        <p:txBody>
          <a:bodyPr wrap="square" lIns="0" tIns="0" rIns="0" bIns="0" rtlCol="0" anchor="ctr"/>
          <a:lstStyle/>
          <a:p>
            <a:pPr marL="0" indent="0">
              <a:buNone/>
            </a:pPr>
            <a:r>
              <a:rPr lang="en-US" sz="1000" i="1" dirty="0">
                <a:solidFill>
                  <a:srgbClr val="5C6B8A"/>
                </a:solidFill>
                <a:latin typeface="Calibri" pitchFamily="34" charset="0"/>
                <a:ea typeface="Calibri" pitchFamily="34" charset="-122"/>
                <a:cs typeface="Calibri" pitchFamily="34" charset="-120"/>
              </a:rPr>
              <a:t>All 34 references link to their original source — extracted directly from the proposal document's own citation links.</a:t>
            </a:r>
            <a:endParaRPr lang="en-US" sz="1000" dirty="0"/>
          </a:p>
        </p:txBody>
      </p:sp>
      <p:sp>
        <p:nvSpPr>
          <p:cNvPr id="7" name="Text 5"/>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REFERENCES  ·  2 OF 2</a:t>
            </a:r>
            <a:endParaRPr lang="en-US" sz="1250" dirty="0"/>
          </a:p>
        </p:txBody>
      </p:sp>
      <p:sp>
        <p:nvSpPr>
          <p:cNvPr id="3" name="Text 1"/>
          <p:cNvSpPr txBox="1"/>
          <p:nvPr/>
        </p:nvSpPr>
        <p:spPr>
          <a:xfrm>
            <a:off x="640080" y="777240"/>
            <a:ext cx="9601200" cy="822960"/>
          </a:xfrm>
          <a:prstGeom prst="rect">
            <a:avLst/>
          </a:prstGeom>
          <a:noFill/>
          <a:ln/>
        </p:spPr>
        <p:txBody>
          <a:bodyPr wrap="square" lIns="0" tIns="0" rIns="0" bIns="0" rtlCol="0" anchor="ctr"/>
          <a:lstStyle/>
          <a:p>
            <a:pPr marL="0" indent="0">
              <a:lnSpc>
                <a:spcPct val="102000"/>
              </a:lnSpc>
              <a:buNone/>
            </a:pPr>
            <a:r>
              <a:rPr lang="en-US" sz="2700" b="1" dirty="0">
                <a:solidFill>
                  <a:srgbClr val="1E2761"/>
                </a:solidFill>
                <a:latin typeface="Cambria" pitchFamily="34" charset="0"/>
                <a:ea typeface="Cambria" pitchFamily="34" charset="-122"/>
                <a:cs typeface="Cambria" pitchFamily="34" charset="-120"/>
              </a:rPr>
              <a:t>References (IEEE Style), cont.</a:t>
            </a:r>
            <a:endParaRPr lang="en-US" sz="2700" dirty="0"/>
          </a:p>
        </p:txBody>
      </p:sp>
      <p:sp>
        <p:nvSpPr>
          <p:cNvPr id="4" name="Text 2"/>
          <p:cNvSpPr txBox="1"/>
          <p:nvPr/>
        </p:nvSpPr>
        <p:spPr>
          <a:xfrm>
            <a:off x="640080" y="1828800"/>
            <a:ext cx="5212080" cy="4343400"/>
          </a:xfrm>
          <a:prstGeom prst="rect">
            <a:avLst/>
          </a:prstGeom>
          <a:noFill/>
          <a:ln/>
        </p:spPr>
        <p:txBody>
          <a:bodyPr wrap="square" lIns="0" tIns="0" rIns="0" bIns="0" rtlCol="0" anchor="ctr"/>
          <a:lstStyle/>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[18] </a:t>
            </a:r>
            <a:r>
              <a:rPr lang="en-US" sz="1100" u="sng" dirty="0">
                <a:solidFill>
                  <a:srgbClr val="0E7C7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 ultralytics/yolo11 Repository.</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[19] </a:t>
            </a:r>
            <a:r>
              <a:rPr lang="en-US" sz="1100" u="sng" dirty="0">
                <a:solidFill>
                  <a:srgbClr val="0E7C7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Kadir Mert Abatay's Post — LinkedIn.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[20] </a:t>
            </a:r>
            <a:r>
              <a:rPr lang="en-US" sz="1100" u="sng" dirty="0">
                <a:solidFill>
                  <a:srgbClr val="0E7C7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Optimizing YOLO for Edge Devices — Comprehensive Guide.</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[21] </a:t>
            </a:r>
            <a:r>
              <a:rPr lang="en-US" sz="1100" u="sng" dirty="0">
                <a:solidFill>
                  <a:srgbClr val="0E7C7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Tutorial: Deploy YOLOv8/v10/World on Jetson — AxcelerateAI.</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[22] </a:t>
            </a:r>
            <a:r>
              <a:rPr lang="en-US" sz="1100" u="sng" dirty="0">
                <a:solidFill>
                  <a:srgbClr val="0E7C7B"/>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ESP32 Cam Person Detection — Eloquent Arduino.</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[23] </a:t>
            </a:r>
            <a:r>
              <a:rPr lang="en-US" sz="1100" u="sng" dirty="0">
                <a:solidFill>
                  <a:srgbClr val="0E7C7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GitHub — sonysunny-com/esp32_tinyML.</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[24] </a:t>
            </a:r>
            <a:r>
              <a:rPr lang="en-US" sz="1100" u="sng" dirty="0">
                <a:solidFill>
                  <a:srgbClr val="0E7C7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TensorFlowLite_ESP32 — tanakamasayuki (GitHub).</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[25] </a:t>
            </a:r>
            <a:r>
              <a:rPr lang="en-US" sz="1100" u="sng" dirty="0">
                <a:solidFill>
                  <a:srgbClr val="0E7C7B"/>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Add Sight to Your ESP32 — Edge Impulse Blog.</a:t>
            </a:r>
            <a:endParaRPr lang="en-US" sz="1100" dirty="0"/>
          </a:p>
        </p:txBody>
      </p:sp>
      <p:sp>
        <p:nvSpPr>
          <p:cNvPr id="5" name="Text 3"/>
          <p:cNvSpPr txBox="1"/>
          <p:nvPr/>
        </p:nvSpPr>
        <p:spPr>
          <a:xfrm>
            <a:off x="6309360" y="1828800"/>
            <a:ext cx="5212080" cy="4343400"/>
          </a:xfrm>
          <a:prstGeom prst="rect">
            <a:avLst/>
          </a:prstGeom>
          <a:noFill/>
          <a:ln/>
        </p:spPr>
        <p:txBody>
          <a:bodyPr wrap="square" lIns="0" tIns="0" rIns="0" bIns="0" rtlCol="0" anchor="ctr"/>
          <a:lstStyle/>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[26] </a:t>
            </a:r>
            <a:r>
              <a:rPr lang="en-US" sz="1100" u="sng" dirty="0">
                <a:solidFill>
                  <a:srgbClr val="0E7C7B"/>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Samsung Galaxy M35 — Full Phone Specifications (GSMArena).</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[27] </a:t>
            </a:r>
            <a:r>
              <a:rPr lang="en-US" sz="1100" u="sng" dirty="0">
                <a:solidFill>
                  <a:srgbClr val="0E7C7B"/>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Samsung Galaxy M35 5G — Specs, Benchmarks &amp; Reviews.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[28] </a:t>
            </a:r>
            <a:r>
              <a:rPr lang="en-US" sz="1100" u="sng" dirty="0">
                <a:solidFill>
                  <a:srgbClr val="0E7C7B"/>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Samsung Galaxy M35 Review — Benchmarks, UL Solutions.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[29] </a:t>
            </a:r>
            <a:r>
              <a:rPr lang="en-US" sz="1100" u="sng" dirty="0">
                <a:solidFill>
                  <a:srgbClr val="0E7C7B"/>
                </a:solidFill>
                <a:latin typeface="Calibri" pitchFamily="34" charset="0"/>
                <a:ea typeface="Calibri" pitchFamily="34" charset="-122"/>
                <a:cs typeface="Calibri" pitchFamily="34" charset="-120"/>
                <a:hlinkClick r:id="rId14">
                  <a:extLst>
                    <a:ext uri="{A12FA001-AC4F-418D-AE19-62706E023703}">
                      <ahyp:hlinkClr xmlns:ahyp="http://schemas.microsoft.com/office/drawing/2018/hyperlinkcolor" val="tx"/>
                    </a:ext>
                  </a:extLst>
                </a:hlinkClick>
              </a:rPr>
              <a:t>Samsung Galaxy M35 5G with Exynos 1380 SoC — Launch News.</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[30] </a:t>
            </a:r>
            <a:r>
              <a:rPr lang="en-US" sz="1100" u="sng" dirty="0">
                <a:solidFill>
                  <a:srgbClr val="0E7C7B"/>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Samsung Galaxy M35 5G — 6.6″ FHD+ 120Hz AMOLED Display.</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[31] </a:t>
            </a:r>
            <a:r>
              <a:rPr lang="en-US" sz="1100" u="sng" dirty="0">
                <a:solidFill>
                  <a:srgbClr val="0E7C7B"/>
                </a:solidFill>
                <a:latin typeface="Calibri" pitchFamily="34" charset="0"/>
                <a:ea typeface="Calibri" pitchFamily="34" charset="-122"/>
                <a:cs typeface="Calibri" pitchFamily="34" charset="-120"/>
                <a:hlinkClick r:id="rId16">
                  <a:extLst>
                    <a:ext uri="{A12FA001-AC4F-418D-AE19-62706E023703}">
                      <ahyp:hlinkClr xmlns:ahyp="http://schemas.microsoft.com/office/drawing/2018/hyperlinkcolor" val="tx"/>
                    </a:ext>
                  </a:extLst>
                </a:hlinkClick>
              </a:rPr>
              <a:t>GitHub — xiaohaoo/yolo-android.</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[32] </a:t>
            </a:r>
            <a:r>
              <a:rPr lang="en-US" sz="1100" u="sng" dirty="0">
                <a:solidFill>
                  <a:srgbClr val="0E7C7B"/>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GitHub — estebanuri/pub-yolo-android.</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[33] </a:t>
            </a:r>
            <a:r>
              <a:rPr lang="en-US" sz="1100" u="sng" dirty="0">
                <a:solidFill>
                  <a:srgbClr val="0E7C7B"/>
                </a:solidFill>
                <a:latin typeface="Calibri" pitchFamily="34" charset="0"/>
                <a:ea typeface="Calibri" pitchFamily="34" charset="-122"/>
                <a:cs typeface="Calibri" pitchFamily="34" charset="-120"/>
                <a:hlinkClick r:id="rId18">
                  <a:extLst>
                    <a:ext uri="{A12FA001-AC4F-418D-AE19-62706E023703}">
                      <ahyp:hlinkClr xmlns:ahyp="http://schemas.microsoft.com/office/drawing/2018/hyperlinkcolor" val="tx"/>
                    </a:ext>
                  </a:extLst>
                </a:hlinkClick>
              </a:rPr>
              <a:t>GitHub — Op27/YOLOMobileVision.</a:t>
            </a:r>
            <a:endParaRPr lang="en-US" sz="1100" dirty="0"/>
          </a:p>
          <a:p>
            <a:pPr marL="0" indent="0">
              <a:lnSpc>
                <a:spcPct val="118000"/>
              </a:lnSpc>
              <a:buNone/>
            </a:pPr>
            <a:r>
              <a:rPr lang="en-US" sz="1100" b="1" dirty="0">
                <a:solidFill>
                  <a:srgbClr val="0E7C7B"/>
                </a:solidFill>
                <a:latin typeface="Calibri" pitchFamily="34" charset="0"/>
                <a:ea typeface="Calibri" pitchFamily="34" charset="-122"/>
                <a:cs typeface="Calibri" pitchFamily="34" charset="-120"/>
              </a:rPr>
              <a:t>[34] </a:t>
            </a:r>
            <a:r>
              <a:rPr lang="en-US" sz="1100" u="sng" dirty="0">
                <a:solidFill>
                  <a:srgbClr val="0E7C7B"/>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GitHub — xforcevesa/YOLOv8-Mobile.</a:t>
            </a:r>
            <a:endParaRPr lang="en-US" sz="1100" dirty="0"/>
          </a:p>
        </p:txBody>
      </p:sp>
      <p:sp>
        <p:nvSpPr>
          <p:cNvPr id="6" name="Text 4"/>
          <p:cNvSpPr txBox="1"/>
          <p:nvPr/>
        </p:nvSpPr>
        <p:spPr>
          <a:xfrm>
            <a:off x="640080" y="6309360"/>
            <a:ext cx="10881360" cy="320040"/>
          </a:xfrm>
          <a:prstGeom prst="rect">
            <a:avLst/>
          </a:prstGeom>
          <a:noFill/>
          <a:ln/>
        </p:spPr>
        <p:txBody>
          <a:bodyPr wrap="square" lIns="0" tIns="0" rIns="0" bIns="0" rtlCol="0" anchor="ctr"/>
          <a:lstStyle/>
          <a:p>
            <a:pPr marL="0" indent="0">
              <a:buNone/>
            </a:pPr>
            <a:r>
              <a:rPr lang="en-US" sz="1000" i="1" dirty="0">
                <a:solidFill>
                  <a:srgbClr val="5C6B8A"/>
                </a:solidFill>
                <a:latin typeface="Calibri" pitchFamily="34" charset="0"/>
                <a:ea typeface="Calibri" pitchFamily="34" charset="-122"/>
                <a:cs typeface="Calibri" pitchFamily="34" charset="-120"/>
              </a:rPr>
              <a:t>Hyperlinks were extracted from the original proposal PDF's embedded citation annotations, not reconstructed.</a:t>
            </a:r>
            <a:endParaRPr lang="en-US" sz="1000" dirty="0"/>
          </a:p>
        </p:txBody>
      </p:sp>
      <p:sp>
        <p:nvSpPr>
          <p:cNvPr id="7" name="Text 5"/>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5C6B8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Sri Krishna</cp:lastModifiedBy>
  <cp:revision>2</cp:revision>
  <dcterms:created xsi:type="dcterms:W3CDTF">2026-09-07T14:33:31Z</dcterms:created>
  <dcterms:modified xsi:type="dcterms:W3CDTF">2026-09-08T04:25:14Z</dcterms:modified>
</cp:coreProperties>
</file>